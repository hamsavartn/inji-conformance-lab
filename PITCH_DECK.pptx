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1F5F9"/>
                </a:solidFill>
                <a:latin typeface="Segoe UI"/>
              </a:defRPr>
            </a:pPr>
            <a:r>
              <a:rPr sz="1300" b="0" i="0" u="none" strike="noStrike">
                <a:solidFill>
                  <a:srgbClr val="F1F5F9"/>
                </a:solidFill>
                <a:latin typeface="Segoe UI"/>
              </a:rPr>
              <a:t>Adversarial security probes passing (of 10)</a:t>
            </a:r>
          </a:p>
        </c:rich>
      </c:tx>
      <c:layout/>
      <c:overlay val="0"/>
    </c:title>
    <c:autoTitleDeleted val="0"/>
    <c:plotArea>
      <c:layout/>
      <c:barChart>
        <c:barDir val="col"/>
        <c:grouping val="clustered"/>
        <c:varyColors val="0"/>
        <c:ser>
          <c:idx val="0"/>
          <c:order val="0"/>
          <c:tx>
            <c:strRef>
              <c:f>Sheet1!$B$1</c:f>
              <c:strCache>
                <c:ptCount val="1"/>
                <c:pt idx="0">
                  <c:v>Adversarial suite</c:v>
                </c:pt>
              </c:strCache>
            </c:strRef>
          </c:tx>
          <c:spPr>
            <a:solidFill>
              <a:srgbClr val="FB7185"/>
            </a:solidFill>
            <a:effectLst/>
          </c:spPr>
          <c:invertIfNegative val="0"/>
          <c:dLbls>
            <c:numFmt formatCode="#,##0" sourceLinked="0"/>
            <c:txPr>
              <a:bodyPr/>
              <a:lstStyle/>
              <a:p>
                <a:pPr>
                  <a:defRPr b="0" i="0" strike="noStrike" sz="1400" u="none">
                    <a:solidFill>
                      <a:srgbClr val="F1F5F9"/>
                    </a:solidFill>
                    <a:latin typeface="Consolas"/>
                  </a:defRPr>
                </a:pPr>
              </a:p>
            </c:txPr>
            <c:showLegendKey val="0"/>
            <c:showVal val="1"/>
            <c:showCatName val="0"/>
            <c:showSerName val="0"/>
            <c:showPercent val="0"/>
            <c:showBubbleSize val="0"/>
            <c:showLeaderLines val="0"/>
          </c:dLbls>
          <c:dPt>
            <c:idx val="0"/>
            <c:invertIfNegative val="0"/>
            <c:bubble3D val="0"/>
            <c:spPr>
              <a:solidFill>
                <a:srgbClr val="FB7185"/>
              </a:solidFill>
              <a:effectLst/>
            </c:spPr>
          </c:dPt>
          <c:dPt>
            <c:idx val="1"/>
            <c:invertIfNegative val="0"/>
            <c:bubble3D val="0"/>
            <c:spPr>
              <a:solidFill>
                <a:srgbClr val="34D399"/>
              </a:solidFill>
              <a:effectLst/>
            </c:spPr>
          </c:dPt>
          <c:cat>
            <c:multiLvlStrRef>
              <c:f>Sheet1!$A$2:$A$3</c:f>
              <c:multiLvlStrCache>
                <c:ptCount val="2"/>
                <c:lvl>
                  <c:pt idx="0">
                    <c:v>Before remediation</c:v>
                  </c:pt>
                  <c:pt idx="1">
                    <c:v>After remediation</c:v>
                  </c:pt>
                </c:lvl>
              </c:multiLvlStrCache>
            </c:multiLvlStrRef>
          </c:cat>
          <c:val>
            <c:numRef>
              <c:f>Sheet1!$B$2:$B$3</c:f>
              <c:numCache>
                <c:formatCode>General</c:formatCode>
                <c:ptCount val="2"/>
                <c:pt idx="0">
                  <c:v>3</c:v>
                </c:pt>
                <c:pt idx="1">
                  <c:v>10</c:v>
                </c:pt>
              </c:numCache>
            </c:numRef>
          </c:val>
        </c:ser>
        <c:dLbls>
          <c:numFmt formatCode="#,##0" sourceLinked="0"/>
          <c:txPr>
            <a:bodyPr/>
            <a:lstStyle/>
            <a:p>
              <a:pPr>
                <a:defRPr b="0" i="0" strike="noStrike" sz="1400" u="none">
                  <a:solidFill>
                    <a:srgbClr val="F1F5F9"/>
                  </a:solidFill>
                  <a:latin typeface="Consola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DA2BD"/>
                </a:solidFill>
                <a:latin typeface="Segoe UI"/>
              </a:defRPr>
            </a:pPr>
            <a:endParaRPr lang="en-US"/>
          </a:p>
        </c:txPr>
        <c:crossAx val="2094734552"/>
        <c:crosses val="autoZero"/>
        <c:auto val="1"/>
        <c:lblAlgn val="ctr"/>
        <c:noMultiLvlLbl val="1"/>
      </c:catAx>
      <c:valAx>
        <c:axId val="2094734552"/>
        <c:scaling>
          <c:orientation val="minMax"/>
          <c:max val="10"/>
        </c:scaling>
        <c:delete val="0"/>
        <c:axPos val="l"/>
        <c:majorGridlines>
          <c:spPr>
            <a:ln w="6350" cap="flat">
              <a:solidFill>
                <a:srgbClr val="22304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DA2BD"/>
                </a:solidFill>
                <a:latin typeface="Consolas"/>
              </a:defRPr>
            </a:pPr>
            <a:endParaRPr lang="en-US"/>
          </a:p>
        </c:txPr>
        <c:crossAx val="2094734554"/>
        <c:crosses val="autoZero"/>
        <c:crossBetween val="between"/>
        <c:majorUnit val="2"/>
      </c:valAx>
      <c:spPr>
        <a:solidFill>
          <a:srgbClr val="121B2F"/>
        </a:solidFill>
        <a:ln>
          <a:noFill/>
        </a:ln>
        <a:effectLst/>
      </c:spPr>
    </c:plotArea>
    <c:plotVisOnly val="1"/>
    <c:dispBlanksAs val="span"/>
  </c:chart>
  <c:spPr>
    <a:solidFill>
      <a:srgbClr val="121B2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03120"/>
            <a:ext cx="5852160" cy="5852160"/>
          </a:xfrm>
          <a:prstGeom prst="ellipse">
            <a:avLst/>
          </a:prstGeom>
          <a:solidFill>
            <a:srgbClr val="0E1B33"/>
          </a:solidFill>
          <a:ln w="12700">
            <a:solidFill>
              <a:srgbClr val="22304E"/>
            </a:solidFill>
            <a:prstDash val="solid"/>
          </a:ln>
        </p:spPr>
      </p:sp>
      <p:sp>
        <p:nvSpPr>
          <p:cNvPr id="3" name="Shape 1"/>
          <p:cNvSpPr/>
          <p:nvPr/>
        </p:nvSpPr>
        <p:spPr>
          <a:xfrm>
            <a:off x="9692640" y="-1097280"/>
            <a:ext cx="3840480" cy="3840480"/>
          </a:xfrm>
          <a:prstGeom prst="ellipse">
            <a:avLst/>
          </a:prstGeom>
          <a:solidFill>
            <a:srgbClr val="11213D"/>
          </a:solidFill>
          <a:ln w="12700">
            <a:solidFill>
              <a:srgbClr val="22304E"/>
            </a:solidFill>
            <a:prstDash val="solid"/>
          </a:ln>
        </p:spPr>
      </p:sp>
      <p:sp>
        <p:nvSpPr>
          <p:cNvPr id="4" name="Shape 2"/>
          <p:cNvSpPr/>
          <p:nvPr/>
        </p:nvSpPr>
        <p:spPr>
          <a:xfrm>
            <a:off x="548640" y="960120"/>
            <a:ext cx="5852160" cy="347472"/>
          </a:xfrm>
          <a:prstGeom prst="roundRect">
            <a:avLst>
              <a:gd name="adj" fmla="val 50000"/>
            </a:avLst>
          </a:prstGeom>
          <a:solidFill>
            <a:srgbClr val="0B1220"/>
          </a:solidFill>
          <a:ln w="12700">
            <a:solidFill>
              <a:srgbClr val="22D3EE"/>
            </a:solidFill>
            <a:prstDash val="solid"/>
          </a:ln>
        </p:spPr>
      </p:sp>
      <p:sp>
        <p:nvSpPr>
          <p:cNvPr id="5" name="Text 3"/>
          <p:cNvSpPr/>
          <p:nvPr/>
        </p:nvSpPr>
        <p:spPr>
          <a:xfrm>
            <a:off x="548640" y="960120"/>
            <a:ext cx="5852160" cy="347472"/>
          </a:xfrm>
          <a:prstGeom prst="rect">
            <a:avLst/>
          </a:prstGeom>
          <a:noFill/>
          <a:ln/>
        </p:spPr>
        <p:txBody>
          <a:bodyPr wrap="square" lIns="0" tIns="0" rIns="0" bIns="0" rtlCol="0" anchor="ctr"/>
          <a:lstStyle/>
          <a:p>
            <a:pPr algn="ctr" indent="0" marL="0">
              <a:buNone/>
            </a:pPr>
            <a:r>
              <a:rPr lang="en-US" sz="1150" dirty="0">
                <a:solidFill>
                  <a:srgbClr val="22D3EE"/>
                </a:solidFill>
                <a:latin typeface="Consolas" pitchFamily="34" charset="0"/>
                <a:ea typeface="Consolas" pitchFamily="34" charset="-122"/>
                <a:cs typeface="Consolas" pitchFamily="34" charset="-120"/>
              </a:rPr>
              <a:t>MOSIP DECODE 2026 · PROBLEM STATEMENT 02 · HIGH COMPLEXITY</a:t>
            </a:r>
            <a:endParaRPr lang="en-US" sz="1150" dirty="0"/>
          </a:p>
        </p:txBody>
      </p:sp>
      <p:sp>
        <p:nvSpPr>
          <p:cNvPr id="6" name="Text 4"/>
          <p:cNvSpPr/>
          <p:nvPr/>
        </p:nvSpPr>
        <p:spPr>
          <a:xfrm>
            <a:off x="548640" y="1554480"/>
            <a:ext cx="10515600" cy="2103120"/>
          </a:xfrm>
          <a:prstGeom prst="rect">
            <a:avLst/>
          </a:prstGeom>
          <a:noFill/>
          <a:ln/>
        </p:spPr>
        <p:txBody>
          <a:bodyPr wrap="square" lIns="0" tIns="0" rIns="0" bIns="0" rtlCol="0" anchor="ctr"/>
          <a:lstStyle/>
          <a:p>
            <a:pPr indent="0" marL="0">
              <a:lnSpc>
                <a:spcPct val="102000"/>
              </a:lnSpc>
              <a:buNone/>
            </a:pPr>
            <a:r>
              <a:rPr lang="en-US" sz="5400" b="1" dirty="0">
                <a:solidFill>
                  <a:srgbClr val="F1F5F9"/>
                </a:solidFill>
                <a:latin typeface="Segoe UI" pitchFamily="34" charset="0"/>
                <a:ea typeface="Segoe UI" pitchFamily="34" charset="-122"/>
                <a:cs typeface="Segoe UI" pitchFamily="34" charset="-120"/>
              </a:rPr>
              <a:t>MOSIP Inji</a:t>
            </a:r>
            <a:endParaRPr lang="en-US" sz="5400" dirty="0"/>
          </a:p>
          <a:p>
            <a:pPr indent="0" marL="0">
              <a:lnSpc>
                <a:spcPct val="102000"/>
              </a:lnSpc>
              <a:buNone/>
            </a:pPr>
            <a:r>
              <a:rPr lang="en-US" sz="5400" b="1" dirty="0">
                <a:solidFill>
                  <a:srgbClr val="F1F5F9"/>
                </a:solidFill>
                <a:latin typeface="Segoe UI" pitchFamily="34" charset="0"/>
                <a:ea typeface="Segoe UI" pitchFamily="34" charset="-122"/>
                <a:cs typeface="Segoe UI" pitchFamily="34" charset="-120"/>
              </a:rPr>
              <a:t>Conformance Laboratory</a:t>
            </a:r>
            <a:endParaRPr lang="en-US" sz="5400" dirty="0"/>
          </a:p>
        </p:txBody>
      </p:sp>
      <p:sp>
        <p:nvSpPr>
          <p:cNvPr id="7" name="Text 5"/>
          <p:cNvSpPr/>
          <p:nvPr/>
        </p:nvSpPr>
        <p:spPr>
          <a:xfrm>
            <a:off x="548640" y="3794760"/>
            <a:ext cx="8778240" cy="914400"/>
          </a:xfrm>
          <a:prstGeom prst="rect">
            <a:avLst/>
          </a:prstGeom>
          <a:noFill/>
          <a:ln/>
        </p:spPr>
        <p:txBody>
          <a:bodyPr wrap="square" lIns="0" tIns="0" rIns="0" bIns="0" rtlCol="0" anchor="ctr"/>
          <a:lstStyle/>
          <a:p>
            <a:pPr indent="0" marL="0">
              <a:lnSpc>
                <a:spcPct val="115000"/>
              </a:lnSpc>
              <a:buNone/>
            </a:pPr>
            <a:r>
              <a:rPr lang="en-US" sz="1800" dirty="0">
                <a:solidFill>
                  <a:srgbClr val="8DA2BD"/>
                </a:solidFill>
                <a:latin typeface="Segoe UI" pitchFamily="34" charset="0"/>
                <a:ea typeface="Segoe UI" pitchFamily="34" charset="-122"/>
                <a:cs typeface="Segoe UI" pitchFamily="34" charset="-120"/>
              </a:rPr>
              <a:t>A zero-trust interoperability playground that runs the full Issue → Hold → Present → Verify lifecycle, inspects every protocol byte — then attacks its own verifier to prove it fails closed.</a:t>
            </a:r>
            <a:endParaRPr lang="en-US" sz="1800" dirty="0"/>
          </a:p>
        </p:txBody>
      </p:sp>
      <p:sp>
        <p:nvSpPr>
          <p:cNvPr id="8" name="Shape 6"/>
          <p:cNvSpPr/>
          <p:nvPr/>
        </p:nvSpPr>
        <p:spPr>
          <a:xfrm>
            <a:off x="548640" y="5029200"/>
            <a:ext cx="2606040" cy="1234440"/>
          </a:xfrm>
          <a:prstGeom prst="roundRect">
            <a:avLst>
              <a:gd name="adj" fmla="val 5926"/>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749808" y="5175504"/>
            <a:ext cx="2286000" cy="502920"/>
          </a:xfrm>
          <a:prstGeom prst="rect">
            <a:avLst/>
          </a:prstGeom>
          <a:noFill/>
          <a:ln/>
        </p:spPr>
        <p:txBody>
          <a:bodyPr wrap="square" lIns="0" tIns="0" rIns="0" bIns="0" rtlCol="0" anchor="ctr"/>
          <a:lstStyle/>
          <a:p>
            <a:pPr indent="0" marL="0">
              <a:buNone/>
            </a:pPr>
            <a:r>
              <a:rPr lang="en-US" sz="2800" b="1" dirty="0">
                <a:solidFill>
                  <a:srgbClr val="34D399"/>
                </a:solidFill>
                <a:latin typeface="Consolas" pitchFamily="34" charset="0"/>
                <a:ea typeface="Consolas" pitchFamily="34" charset="-122"/>
                <a:cs typeface="Consolas" pitchFamily="34" charset="-120"/>
              </a:rPr>
              <a:t>51/51</a:t>
            </a:r>
            <a:endParaRPr lang="en-US" sz="2800" dirty="0"/>
          </a:p>
        </p:txBody>
      </p:sp>
      <p:sp>
        <p:nvSpPr>
          <p:cNvPr id="10" name="Text 8"/>
          <p:cNvSpPr/>
          <p:nvPr/>
        </p:nvSpPr>
        <p:spPr>
          <a:xfrm>
            <a:off x="749808" y="5705856"/>
            <a:ext cx="2286000" cy="411480"/>
          </a:xfrm>
          <a:prstGeom prst="rect">
            <a:avLst/>
          </a:prstGeom>
          <a:noFill/>
          <a:ln/>
        </p:spPr>
        <p:txBody>
          <a:bodyPr wrap="square" lIns="0" tIns="0" rIns="0" bIns="0" rtlCol="0" anchor="ctr"/>
          <a:lstStyle/>
          <a:p>
            <a:pPr indent="0" marL="0">
              <a:buNone/>
            </a:pPr>
            <a:r>
              <a:rPr lang="en-US" sz="1150" dirty="0">
                <a:solidFill>
                  <a:srgbClr val="8DA2BD"/>
                </a:solidFill>
                <a:latin typeface="Segoe UI" pitchFamily="34" charset="0"/>
                <a:ea typeface="Segoe UI" pitchFamily="34" charset="-122"/>
                <a:cs typeface="Segoe UI" pitchFamily="34" charset="-120"/>
              </a:rPr>
              <a:t>automated checks passing</a:t>
            </a:r>
            <a:endParaRPr lang="en-US" sz="1150" dirty="0"/>
          </a:p>
        </p:txBody>
      </p:sp>
      <p:sp>
        <p:nvSpPr>
          <p:cNvPr id="11" name="Shape 9"/>
          <p:cNvSpPr/>
          <p:nvPr/>
        </p:nvSpPr>
        <p:spPr>
          <a:xfrm>
            <a:off x="3401568" y="5029200"/>
            <a:ext cx="2606040" cy="1234440"/>
          </a:xfrm>
          <a:prstGeom prst="roundRect">
            <a:avLst>
              <a:gd name="adj" fmla="val 5926"/>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3602736" y="5175504"/>
            <a:ext cx="2286000" cy="502920"/>
          </a:xfrm>
          <a:prstGeom prst="rect">
            <a:avLst/>
          </a:prstGeom>
          <a:noFill/>
          <a:ln/>
        </p:spPr>
        <p:txBody>
          <a:bodyPr wrap="square" lIns="0" tIns="0" rIns="0" bIns="0" rtlCol="0" anchor="ctr"/>
          <a:lstStyle/>
          <a:p>
            <a:pPr indent="0" marL="0">
              <a:buNone/>
            </a:pPr>
            <a:r>
              <a:rPr lang="en-US" sz="2800" b="1" dirty="0">
                <a:solidFill>
                  <a:srgbClr val="22D3EE"/>
                </a:solidFill>
                <a:latin typeface="Consolas" pitchFamily="34" charset="0"/>
                <a:ea typeface="Consolas" pitchFamily="34" charset="-122"/>
                <a:cs typeface="Consolas" pitchFamily="34" charset="-120"/>
              </a:rPr>
              <a:t>4</a:t>
            </a:r>
            <a:endParaRPr lang="en-US" sz="2800" dirty="0"/>
          </a:p>
        </p:txBody>
      </p:sp>
      <p:sp>
        <p:nvSpPr>
          <p:cNvPr id="13" name="Text 11"/>
          <p:cNvSpPr/>
          <p:nvPr/>
        </p:nvSpPr>
        <p:spPr>
          <a:xfrm>
            <a:off x="3602736" y="5705856"/>
            <a:ext cx="2286000" cy="411480"/>
          </a:xfrm>
          <a:prstGeom prst="rect">
            <a:avLst/>
          </a:prstGeom>
          <a:noFill/>
          <a:ln/>
        </p:spPr>
        <p:txBody>
          <a:bodyPr wrap="square" lIns="0" tIns="0" rIns="0" bIns="0" rtlCol="0" anchor="ctr"/>
          <a:lstStyle/>
          <a:p>
            <a:pPr indent="0" marL="0">
              <a:buNone/>
            </a:pPr>
            <a:r>
              <a:rPr lang="en-US" sz="1150" dirty="0">
                <a:solidFill>
                  <a:srgbClr val="8DA2BD"/>
                </a:solidFill>
                <a:latin typeface="Segoe UI" pitchFamily="34" charset="0"/>
                <a:ea typeface="Segoe UI" pitchFamily="34" charset="-122"/>
                <a:cs typeface="Segoe UI" pitchFamily="34" charset="-120"/>
              </a:rPr>
              <a:t>credential formats end-to-end</a:t>
            </a:r>
            <a:endParaRPr lang="en-US" sz="1150" dirty="0"/>
          </a:p>
        </p:txBody>
      </p:sp>
      <p:sp>
        <p:nvSpPr>
          <p:cNvPr id="14" name="Shape 12"/>
          <p:cNvSpPr/>
          <p:nvPr/>
        </p:nvSpPr>
        <p:spPr>
          <a:xfrm>
            <a:off x="6254496" y="5029200"/>
            <a:ext cx="2606040" cy="1234440"/>
          </a:xfrm>
          <a:prstGeom prst="roundRect">
            <a:avLst>
              <a:gd name="adj" fmla="val 5926"/>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5" name="Text 13"/>
          <p:cNvSpPr/>
          <p:nvPr/>
        </p:nvSpPr>
        <p:spPr>
          <a:xfrm>
            <a:off x="6455664" y="5175504"/>
            <a:ext cx="2286000" cy="502920"/>
          </a:xfrm>
          <a:prstGeom prst="rect">
            <a:avLst/>
          </a:prstGeom>
          <a:noFill/>
          <a:ln/>
        </p:spPr>
        <p:txBody>
          <a:bodyPr wrap="square" lIns="0" tIns="0" rIns="0" bIns="0" rtlCol="0" anchor="ctr"/>
          <a:lstStyle/>
          <a:p>
            <a:pPr indent="0" marL="0">
              <a:buNone/>
            </a:pPr>
            <a:r>
              <a:rPr lang="en-US" sz="2800" b="1" dirty="0">
                <a:solidFill>
                  <a:srgbClr val="22D3EE"/>
                </a:solidFill>
                <a:latin typeface="Consolas" pitchFamily="34" charset="0"/>
                <a:ea typeface="Consolas" pitchFamily="34" charset="-122"/>
                <a:cs typeface="Consolas" pitchFamily="34" charset="-120"/>
              </a:rPr>
              <a:t>8+10</a:t>
            </a:r>
            <a:endParaRPr lang="en-US" sz="2800" dirty="0"/>
          </a:p>
        </p:txBody>
      </p:sp>
      <p:sp>
        <p:nvSpPr>
          <p:cNvPr id="16" name="Text 14"/>
          <p:cNvSpPr/>
          <p:nvPr/>
        </p:nvSpPr>
        <p:spPr>
          <a:xfrm>
            <a:off x="6455664" y="5705856"/>
            <a:ext cx="2286000" cy="411480"/>
          </a:xfrm>
          <a:prstGeom prst="rect">
            <a:avLst/>
          </a:prstGeom>
          <a:noFill/>
          <a:ln/>
        </p:spPr>
        <p:txBody>
          <a:bodyPr wrap="square" lIns="0" tIns="0" rIns="0" bIns="0" rtlCol="0" anchor="ctr"/>
          <a:lstStyle/>
          <a:p>
            <a:pPr indent="0" marL="0">
              <a:buNone/>
            </a:pPr>
            <a:r>
              <a:rPr lang="en-US" sz="1150" dirty="0">
                <a:solidFill>
                  <a:srgbClr val="8DA2BD"/>
                </a:solidFill>
                <a:latin typeface="Segoe UI" pitchFamily="34" charset="0"/>
                <a:ea typeface="Segoe UI" pitchFamily="34" charset="-122"/>
                <a:cs typeface="Segoe UI" pitchFamily="34" charset="-120"/>
              </a:rPr>
              <a:t>adversarial attack vectors</a:t>
            </a:r>
            <a:endParaRPr lang="en-US" sz="1150" dirty="0"/>
          </a:p>
        </p:txBody>
      </p:sp>
      <p:sp>
        <p:nvSpPr>
          <p:cNvPr id="17" name="Shape 15"/>
          <p:cNvSpPr/>
          <p:nvPr/>
        </p:nvSpPr>
        <p:spPr>
          <a:xfrm>
            <a:off x="9107424" y="5029200"/>
            <a:ext cx="2606040" cy="1234440"/>
          </a:xfrm>
          <a:prstGeom prst="roundRect">
            <a:avLst>
              <a:gd name="adj" fmla="val 5926"/>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8" name="Text 16"/>
          <p:cNvSpPr/>
          <p:nvPr/>
        </p:nvSpPr>
        <p:spPr>
          <a:xfrm>
            <a:off x="9308592" y="5175504"/>
            <a:ext cx="2286000" cy="502920"/>
          </a:xfrm>
          <a:prstGeom prst="rect">
            <a:avLst/>
          </a:prstGeom>
          <a:noFill/>
          <a:ln/>
        </p:spPr>
        <p:txBody>
          <a:bodyPr wrap="square" lIns="0" tIns="0" rIns="0" bIns="0" rtlCol="0" anchor="ctr"/>
          <a:lstStyle/>
          <a:p>
            <a:pPr indent="0" marL="0">
              <a:buNone/>
            </a:pPr>
            <a:r>
              <a:rPr lang="en-US" sz="2800" b="1" dirty="0">
                <a:solidFill>
                  <a:srgbClr val="22D3EE"/>
                </a:solidFill>
                <a:latin typeface="Consolas" pitchFamily="34" charset="0"/>
                <a:ea typeface="Consolas" pitchFamily="34" charset="-122"/>
                <a:cs typeface="Consolas" pitchFamily="34" charset="-120"/>
              </a:rPr>
              <a:t>920 MB</a:t>
            </a:r>
            <a:endParaRPr lang="en-US" sz="2800" dirty="0"/>
          </a:p>
        </p:txBody>
      </p:sp>
      <p:sp>
        <p:nvSpPr>
          <p:cNvPr id="19" name="Text 17"/>
          <p:cNvSpPr/>
          <p:nvPr/>
        </p:nvSpPr>
        <p:spPr>
          <a:xfrm>
            <a:off x="9308592" y="5705856"/>
            <a:ext cx="2286000" cy="411480"/>
          </a:xfrm>
          <a:prstGeom prst="rect">
            <a:avLst/>
          </a:prstGeom>
          <a:noFill/>
          <a:ln/>
        </p:spPr>
        <p:txBody>
          <a:bodyPr wrap="square" lIns="0" tIns="0" rIns="0" bIns="0" rtlCol="0" anchor="ctr"/>
          <a:lstStyle/>
          <a:p>
            <a:pPr indent="0" marL="0">
              <a:buNone/>
            </a:pPr>
            <a:r>
              <a:rPr lang="en-US" sz="1150" dirty="0">
                <a:solidFill>
                  <a:srgbClr val="8DA2BD"/>
                </a:solidFill>
                <a:latin typeface="Segoe UI" pitchFamily="34" charset="0"/>
                <a:ea typeface="Segoe UI" pitchFamily="34" charset="-122"/>
                <a:cs typeface="Segoe UI" pitchFamily="34" charset="-120"/>
              </a:rPr>
              <a:t>hard Docker RAM ceiling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THE PROBLEM</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A valid signature is not a valid credential</a:t>
            </a:r>
            <a:endParaRPr lang="en-US" sz="3800" dirty="0"/>
          </a:p>
        </p:txBody>
      </p:sp>
      <p:sp>
        <p:nvSpPr>
          <p:cNvPr id="4" name="Text 2"/>
          <p:cNvSpPr/>
          <p:nvPr/>
        </p:nvSpPr>
        <p:spPr>
          <a:xfrm>
            <a:off x="548640" y="1481328"/>
            <a:ext cx="10607040" cy="685800"/>
          </a:xfrm>
          <a:prstGeom prst="rect">
            <a:avLst/>
          </a:prstGeom>
          <a:noFill/>
          <a:ln/>
        </p:spPr>
        <p:txBody>
          <a:bodyPr wrap="square" lIns="0" tIns="0" rIns="0" bIns="0" rtlCol="0" anchor="ctr"/>
          <a:lstStyle/>
          <a:p>
            <a:pPr indent="0" marL="0">
              <a:lnSpc>
                <a:spcPct val="115000"/>
              </a:lnSpc>
              <a:buNone/>
            </a:pPr>
            <a:r>
              <a:rPr lang="en-US" sz="1650" dirty="0">
                <a:solidFill>
                  <a:srgbClr val="8DA2BD"/>
                </a:solidFill>
                <a:latin typeface="Segoe UI" pitchFamily="34" charset="0"/>
                <a:ea typeface="Segoe UI" pitchFamily="34" charset="-122"/>
                <a:cs typeface="Segoe UI" pitchFamily="34" charset="-120"/>
              </a:rPr>
              <a:t>Cross-ecosystem credential exchange fails in the field, and nobody can see why. Wallets crash on draft mismatches; verifiers silently accept what they should reject.</a:t>
            </a:r>
            <a:endParaRPr lang="en-US" sz="1650" dirty="0"/>
          </a:p>
        </p:txBody>
      </p:sp>
      <p:sp>
        <p:nvSpPr>
          <p:cNvPr id="5" name="Shape 3"/>
          <p:cNvSpPr/>
          <p:nvPr/>
        </p:nvSpPr>
        <p:spPr>
          <a:xfrm>
            <a:off x="548640" y="2514600"/>
            <a:ext cx="2606040" cy="3200400"/>
          </a:xfrm>
          <a:prstGeom prst="roundRect">
            <a:avLst>
              <a:gd name="adj" fmla="val 2807"/>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6" name="Text 4"/>
          <p:cNvSpPr/>
          <p:nvPr/>
        </p:nvSpPr>
        <p:spPr>
          <a:xfrm>
            <a:off x="749808" y="2743200"/>
            <a:ext cx="2194560" cy="274320"/>
          </a:xfrm>
          <a:prstGeom prst="rect">
            <a:avLst/>
          </a:prstGeom>
          <a:noFill/>
          <a:ln/>
        </p:spPr>
        <p:txBody>
          <a:bodyPr wrap="square" lIns="0" tIns="0" rIns="0" bIns="0" rtlCol="0" anchor="ctr"/>
          <a:lstStyle/>
          <a:p>
            <a:pPr indent="0" marL="0">
              <a:buNone/>
            </a:pPr>
            <a:r>
              <a:rPr lang="en-US" sz="1100" dirty="0">
                <a:solidFill>
                  <a:srgbClr val="FB7185"/>
                </a:solidFill>
                <a:latin typeface="Consolas" pitchFamily="34" charset="0"/>
                <a:ea typeface="Consolas" pitchFamily="34" charset="-122"/>
                <a:cs typeface="Consolas" pitchFamily="34" charset="-120"/>
              </a:rPr>
              <a:t>Draft 13 ⇄ 14</a:t>
            </a:r>
            <a:endParaRPr lang="en-US" sz="1100" dirty="0"/>
          </a:p>
        </p:txBody>
      </p:sp>
      <p:sp>
        <p:nvSpPr>
          <p:cNvPr id="7" name="Text 5"/>
          <p:cNvSpPr/>
          <p:nvPr/>
        </p:nvSpPr>
        <p:spPr>
          <a:xfrm>
            <a:off x="749808" y="3090672"/>
            <a:ext cx="2194560" cy="685800"/>
          </a:xfrm>
          <a:prstGeom prst="rect">
            <a:avLst/>
          </a:prstGeom>
          <a:noFill/>
          <a:ln/>
        </p:spPr>
        <p:txBody>
          <a:bodyPr wrap="square" lIns="0" tIns="0" rIns="0" bIns="0" rtlCol="0" anchor="ctr"/>
          <a:lstStyle/>
          <a:p>
            <a:pPr indent="0" marL="0">
              <a:buNone/>
            </a:pPr>
            <a:r>
              <a:rPr lang="en-US" sz="1900" b="1" dirty="0">
                <a:solidFill>
                  <a:srgbClr val="F1F5F9"/>
                </a:solidFill>
                <a:latin typeface="Segoe UI" pitchFamily="34" charset="0"/>
                <a:ea typeface="Segoe UI" pitchFamily="34" charset="-122"/>
                <a:cs typeface="Segoe UI" pitchFamily="34" charset="-120"/>
              </a:rPr>
              <a:t>Draft drift</a:t>
            </a:r>
            <a:endParaRPr lang="en-US" sz="1900" dirty="0"/>
          </a:p>
        </p:txBody>
      </p:sp>
      <p:sp>
        <p:nvSpPr>
          <p:cNvPr id="8" name="Text 6"/>
          <p:cNvSpPr/>
          <p:nvPr/>
        </p:nvSpPr>
        <p:spPr>
          <a:xfrm>
            <a:off x="749808" y="3840480"/>
            <a:ext cx="2212848" cy="1691640"/>
          </a:xfrm>
          <a:prstGeom prst="rect">
            <a:avLst/>
          </a:prstGeom>
          <a:noFill/>
          <a:ln/>
        </p:spPr>
        <p:txBody>
          <a:bodyPr wrap="square" lIns="0" tIns="0" rIns="0" bIns="0" rtlCol="0" anchor="ctr"/>
          <a:lstStyle/>
          <a:p>
            <a:pPr indent="0" marL="0">
              <a:lnSpc>
                <a:spcPct val="118000"/>
              </a:lnSpc>
              <a:buNone/>
            </a:pPr>
            <a:r>
              <a:rPr lang="en-US" sz="1250" dirty="0">
                <a:solidFill>
                  <a:srgbClr val="8DA2BD"/>
                </a:solidFill>
                <a:latin typeface="Segoe UI" pitchFamily="34" charset="0"/>
                <a:ea typeface="Segoe UI" pitchFamily="34" charset="-122"/>
                <a:cs typeface="Segoe UI" pitchFamily="34" charset="-120"/>
              </a:rPr>
              <a:t>OpenID4VCI Draft 13 wallets break against Draft 14 verifiers — singular proof vs plural proofs DTO.</a:t>
            </a:r>
            <a:endParaRPr lang="en-US" sz="1250" dirty="0"/>
          </a:p>
        </p:txBody>
      </p:sp>
      <p:sp>
        <p:nvSpPr>
          <p:cNvPr id="9" name="Shape 7"/>
          <p:cNvSpPr/>
          <p:nvPr/>
        </p:nvSpPr>
        <p:spPr>
          <a:xfrm>
            <a:off x="3401568" y="2514600"/>
            <a:ext cx="2606040" cy="3200400"/>
          </a:xfrm>
          <a:prstGeom prst="roundRect">
            <a:avLst>
              <a:gd name="adj" fmla="val 2807"/>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0" name="Text 8"/>
          <p:cNvSpPr/>
          <p:nvPr/>
        </p:nvSpPr>
        <p:spPr>
          <a:xfrm>
            <a:off x="3602736" y="2743200"/>
            <a:ext cx="2194560" cy="274320"/>
          </a:xfrm>
          <a:prstGeom prst="rect">
            <a:avLst/>
          </a:prstGeom>
          <a:noFill/>
          <a:ln/>
        </p:spPr>
        <p:txBody>
          <a:bodyPr wrap="square" lIns="0" tIns="0" rIns="0" bIns="0" rtlCol="0" anchor="ctr"/>
          <a:lstStyle/>
          <a:p>
            <a:pPr indent="0" marL="0">
              <a:buNone/>
            </a:pPr>
            <a:r>
              <a:rPr lang="en-US" sz="1100" dirty="0">
                <a:solidFill>
                  <a:srgbClr val="FB7185"/>
                </a:solidFill>
                <a:latin typeface="Consolas" pitchFamily="34" charset="0"/>
                <a:ea typeface="Consolas" pitchFamily="34" charset="-122"/>
                <a:cs typeface="Consolas" pitchFamily="34" charset="-120"/>
              </a:rPr>
              <a:t>Type confusion</a:t>
            </a:r>
            <a:endParaRPr lang="en-US" sz="1100" dirty="0"/>
          </a:p>
        </p:txBody>
      </p:sp>
      <p:sp>
        <p:nvSpPr>
          <p:cNvPr id="11" name="Text 9"/>
          <p:cNvSpPr/>
          <p:nvPr/>
        </p:nvSpPr>
        <p:spPr>
          <a:xfrm>
            <a:off x="3602736" y="3090672"/>
            <a:ext cx="2194560" cy="685800"/>
          </a:xfrm>
          <a:prstGeom prst="rect">
            <a:avLst/>
          </a:prstGeom>
          <a:noFill/>
          <a:ln/>
        </p:spPr>
        <p:txBody>
          <a:bodyPr wrap="square" lIns="0" tIns="0" rIns="0" bIns="0" rtlCol="0" anchor="ctr"/>
          <a:lstStyle/>
          <a:p>
            <a:pPr indent="0" marL="0">
              <a:buNone/>
            </a:pPr>
            <a:r>
              <a:rPr lang="en-US" sz="1900" b="1" dirty="0">
                <a:solidFill>
                  <a:srgbClr val="F1F5F9"/>
                </a:solidFill>
                <a:latin typeface="Segoe UI" pitchFamily="34" charset="0"/>
                <a:ea typeface="Segoe UI" pitchFamily="34" charset="-122"/>
                <a:cs typeface="Segoe UI" pitchFamily="34" charset="-120"/>
              </a:rPr>
              <a:t>Silent acceptance</a:t>
            </a:r>
            <a:endParaRPr lang="en-US" sz="1900" dirty="0"/>
          </a:p>
        </p:txBody>
      </p:sp>
      <p:sp>
        <p:nvSpPr>
          <p:cNvPr id="12" name="Text 10"/>
          <p:cNvSpPr/>
          <p:nvPr/>
        </p:nvSpPr>
        <p:spPr>
          <a:xfrm>
            <a:off x="3602736" y="3840480"/>
            <a:ext cx="2212848" cy="1691640"/>
          </a:xfrm>
          <a:prstGeom prst="rect">
            <a:avLst/>
          </a:prstGeom>
          <a:noFill/>
          <a:ln/>
        </p:spPr>
        <p:txBody>
          <a:bodyPr wrap="square" lIns="0" tIns="0" rIns="0" bIns="0" rtlCol="0" anchor="ctr"/>
          <a:lstStyle/>
          <a:p>
            <a:pPr indent="0" marL="0">
              <a:lnSpc>
                <a:spcPct val="118000"/>
              </a:lnSpc>
              <a:buNone/>
            </a:pPr>
            <a:r>
              <a:rPr lang="en-US" sz="1250" dirty="0">
                <a:solidFill>
                  <a:srgbClr val="8DA2BD"/>
                </a:solidFill>
                <a:latin typeface="Segoe UI" pitchFamily="34" charset="0"/>
                <a:ea typeface="Segoe UI" pitchFamily="34" charset="-122"/>
                <a:cs typeface="Segoe UI" pitchFamily="34" charset="-120"/>
              </a:rPr>
              <a:t>INJIVER-1131: a LifeInsuranceCredential with a valid signature passes a national-ID presentation request.</a:t>
            </a:r>
            <a:endParaRPr lang="en-US" sz="1250" dirty="0"/>
          </a:p>
        </p:txBody>
      </p:sp>
      <p:sp>
        <p:nvSpPr>
          <p:cNvPr id="13" name="Shape 11"/>
          <p:cNvSpPr/>
          <p:nvPr/>
        </p:nvSpPr>
        <p:spPr>
          <a:xfrm>
            <a:off x="6254496" y="2514600"/>
            <a:ext cx="2606040" cy="3200400"/>
          </a:xfrm>
          <a:prstGeom prst="roundRect">
            <a:avLst>
              <a:gd name="adj" fmla="val 2807"/>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6455664" y="2743200"/>
            <a:ext cx="2194560" cy="274320"/>
          </a:xfrm>
          <a:prstGeom prst="rect">
            <a:avLst/>
          </a:prstGeom>
          <a:noFill/>
          <a:ln/>
        </p:spPr>
        <p:txBody>
          <a:bodyPr wrap="square" lIns="0" tIns="0" rIns="0" bIns="0" rtlCol="0" anchor="ctr"/>
          <a:lstStyle/>
          <a:p>
            <a:pPr indent="0" marL="0">
              <a:buNone/>
            </a:pPr>
            <a:r>
              <a:rPr lang="en-US" sz="1100" dirty="0">
                <a:solidFill>
                  <a:srgbClr val="FB7185"/>
                </a:solidFill>
                <a:latin typeface="Consolas" pitchFamily="34" charset="0"/>
                <a:ea typeface="Consolas" pitchFamily="34" charset="-122"/>
                <a:cs typeface="Consolas" pitchFamily="34" charset="-120"/>
              </a:rPr>
              <a:t>RFC 9449 / 9901</a:t>
            </a:r>
            <a:endParaRPr lang="en-US" sz="1100" dirty="0"/>
          </a:p>
        </p:txBody>
      </p:sp>
      <p:sp>
        <p:nvSpPr>
          <p:cNvPr id="15" name="Text 13"/>
          <p:cNvSpPr/>
          <p:nvPr/>
        </p:nvSpPr>
        <p:spPr>
          <a:xfrm>
            <a:off x="6455664" y="3090672"/>
            <a:ext cx="2194560" cy="685800"/>
          </a:xfrm>
          <a:prstGeom prst="rect">
            <a:avLst/>
          </a:prstGeom>
          <a:noFill/>
          <a:ln/>
        </p:spPr>
        <p:txBody>
          <a:bodyPr wrap="square" lIns="0" tIns="0" rIns="0" bIns="0" rtlCol="0" anchor="ctr"/>
          <a:lstStyle/>
          <a:p>
            <a:pPr indent="0" marL="0">
              <a:buNone/>
            </a:pPr>
            <a:r>
              <a:rPr lang="en-US" sz="1900" b="1" dirty="0">
                <a:solidFill>
                  <a:srgbClr val="F1F5F9"/>
                </a:solidFill>
                <a:latin typeface="Segoe UI" pitchFamily="34" charset="0"/>
                <a:ea typeface="Segoe UI" pitchFamily="34" charset="-122"/>
                <a:cs typeface="Segoe UI" pitchFamily="34" charset="-120"/>
              </a:rPr>
              <a:t>Binding gaps</a:t>
            </a:r>
            <a:endParaRPr lang="en-US" sz="1900" dirty="0"/>
          </a:p>
        </p:txBody>
      </p:sp>
      <p:sp>
        <p:nvSpPr>
          <p:cNvPr id="16" name="Text 14"/>
          <p:cNvSpPr/>
          <p:nvPr/>
        </p:nvSpPr>
        <p:spPr>
          <a:xfrm>
            <a:off x="6455664" y="3840480"/>
            <a:ext cx="2212848" cy="1691640"/>
          </a:xfrm>
          <a:prstGeom prst="rect">
            <a:avLst/>
          </a:prstGeom>
          <a:noFill/>
          <a:ln/>
        </p:spPr>
        <p:txBody>
          <a:bodyPr wrap="square" lIns="0" tIns="0" rIns="0" bIns="0" rtlCol="0" anchor="ctr"/>
          <a:lstStyle/>
          <a:p>
            <a:pPr indent="0" marL="0">
              <a:lnSpc>
                <a:spcPct val="118000"/>
              </a:lnSpc>
              <a:buNone/>
            </a:pPr>
            <a:r>
              <a:rPr lang="en-US" sz="1250" dirty="0">
                <a:solidFill>
                  <a:srgbClr val="8DA2BD"/>
                </a:solidFill>
                <a:latin typeface="Segoe UI" pitchFamily="34" charset="0"/>
                <a:ea typeface="Segoe UI" pitchFamily="34" charset="-122"/>
                <a:cs typeface="Segoe UI" pitchFamily="34" charset="-120"/>
              </a:rPr>
              <a:t>DPoP ath mismatches and key-binding JWTs that never verify sd_hash or audience let replayed proofs through.</a:t>
            </a:r>
            <a:endParaRPr lang="en-US" sz="1250" dirty="0"/>
          </a:p>
        </p:txBody>
      </p:sp>
      <p:sp>
        <p:nvSpPr>
          <p:cNvPr id="17" name="Shape 15"/>
          <p:cNvSpPr/>
          <p:nvPr/>
        </p:nvSpPr>
        <p:spPr>
          <a:xfrm>
            <a:off x="9107424" y="2514600"/>
            <a:ext cx="2606040" cy="3200400"/>
          </a:xfrm>
          <a:prstGeom prst="roundRect">
            <a:avLst>
              <a:gd name="adj" fmla="val 2807"/>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8" name="Text 16"/>
          <p:cNvSpPr/>
          <p:nvPr/>
        </p:nvSpPr>
        <p:spPr>
          <a:xfrm>
            <a:off x="9308592" y="2743200"/>
            <a:ext cx="2194560" cy="274320"/>
          </a:xfrm>
          <a:prstGeom prst="rect">
            <a:avLst/>
          </a:prstGeom>
          <a:noFill/>
          <a:ln/>
        </p:spPr>
        <p:txBody>
          <a:bodyPr wrap="square" lIns="0" tIns="0" rIns="0" bIns="0" rtlCol="0" anchor="ctr"/>
          <a:lstStyle/>
          <a:p>
            <a:pPr indent="0" marL="0">
              <a:buNone/>
            </a:pPr>
            <a:r>
              <a:rPr lang="en-US" sz="1100" dirty="0">
                <a:solidFill>
                  <a:srgbClr val="FB7185"/>
                </a:solidFill>
                <a:latin typeface="Consolas" pitchFamily="34" charset="0"/>
                <a:ea typeface="Consolas" pitchFamily="34" charset="-122"/>
                <a:cs typeface="Consolas" pitchFamily="34" charset="-120"/>
              </a:rPr>
              <a:t>Black box</a:t>
            </a:r>
            <a:endParaRPr lang="en-US" sz="1100" dirty="0"/>
          </a:p>
        </p:txBody>
      </p:sp>
      <p:sp>
        <p:nvSpPr>
          <p:cNvPr id="19" name="Text 17"/>
          <p:cNvSpPr/>
          <p:nvPr/>
        </p:nvSpPr>
        <p:spPr>
          <a:xfrm>
            <a:off x="9308592" y="3090672"/>
            <a:ext cx="2194560" cy="685800"/>
          </a:xfrm>
          <a:prstGeom prst="rect">
            <a:avLst/>
          </a:prstGeom>
          <a:noFill/>
          <a:ln/>
        </p:spPr>
        <p:txBody>
          <a:bodyPr wrap="square" lIns="0" tIns="0" rIns="0" bIns="0" rtlCol="0" anchor="ctr"/>
          <a:lstStyle/>
          <a:p>
            <a:pPr indent="0" marL="0">
              <a:buNone/>
            </a:pPr>
            <a:r>
              <a:rPr lang="en-US" sz="1900" b="1" dirty="0">
                <a:solidFill>
                  <a:srgbClr val="F1F5F9"/>
                </a:solidFill>
                <a:latin typeface="Segoe UI" pitchFamily="34" charset="0"/>
                <a:ea typeface="Segoe UI" pitchFamily="34" charset="-122"/>
                <a:cs typeface="Segoe UI" pitchFamily="34" charset="-120"/>
              </a:rPr>
              <a:t>No visibility</a:t>
            </a:r>
            <a:endParaRPr lang="en-US" sz="1900" dirty="0"/>
          </a:p>
        </p:txBody>
      </p:sp>
      <p:sp>
        <p:nvSpPr>
          <p:cNvPr id="20" name="Text 18"/>
          <p:cNvSpPr/>
          <p:nvPr/>
        </p:nvSpPr>
        <p:spPr>
          <a:xfrm>
            <a:off x="9308592" y="3840480"/>
            <a:ext cx="2212848" cy="1691640"/>
          </a:xfrm>
          <a:prstGeom prst="rect">
            <a:avLst/>
          </a:prstGeom>
          <a:noFill/>
          <a:ln/>
        </p:spPr>
        <p:txBody>
          <a:bodyPr wrap="square" lIns="0" tIns="0" rIns="0" bIns="0" rtlCol="0" anchor="ctr"/>
          <a:lstStyle/>
          <a:p>
            <a:pPr indent="0" marL="0">
              <a:lnSpc>
                <a:spcPct val="118000"/>
              </a:lnSpc>
              <a:buNone/>
            </a:pPr>
            <a:r>
              <a:rPr lang="en-US" sz="1250" dirty="0">
                <a:solidFill>
                  <a:srgbClr val="8DA2BD"/>
                </a:solidFill>
                <a:latin typeface="Segoe UI" pitchFamily="34" charset="0"/>
                <a:ea typeface="Segoe UI" pitchFamily="34" charset="-122"/>
                <a:cs typeface="Segoe UI" pitchFamily="34" charset="-120"/>
              </a:rPr>
              <a:t>Raw protocol payloads are invisible — judges, integrators and QA cannot inspect a single hop.</a:t>
            </a:r>
            <a:endParaRPr lang="en-US" sz="1250" dirty="0"/>
          </a:p>
        </p:txBody>
      </p:sp>
      <p:sp>
        <p:nvSpPr>
          <p:cNvPr id="21" name="Text 19"/>
          <p:cNvSpPr/>
          <p:nvPr/>
        </p:nvSpPr>
        <p:spPr>
          <a:xfrm>
            <a:off x="548640" y="5943600"/>
            <a:ext cx="10515600" cy="365760"/>
          </a:xfrm>
          <a:prstGeom prst="rect">
            <a:avLst/>
          </a:prstGeom>
          <a:noFill/>
          <a:ln/>
        </p:spPr>
        <p:txBody>
          <a:bodyPr wrap="square" lIns="0" tIns="0" rIns="0" bIns="0" rtlCol="0" anchor="ctr"/>
          <a:lstStyle/>
          <a:p>
            <a:pPr indent="0" marL="0">
              <a:buNone/>
            </a:pPr>
            <a:r>
              <a:rPr lang="en-US" sz="1300" dirty="0">
                <a:solidFill>
                  <a:srgbClr val="34D399"/>
                </a:solidFill>
                <a:latin typeface="Consolas" pitchFamily="34" charset="0"/>
                <a:ea typeface="Consolas" pitchFamily="34" charset="-122"/>
                <a:cs typeface="Consolas" pitchFamily="34" charset="-120"/>
              </a:rPr>
              <a:t>Every failure above is reproducible in this laboratory — and every defense is enforced by a test that fails loudly if it regresses.</a:t>
            </a:r>
            <a:endParaRPr lang="en-US" sz="1300" dirty="0"/>
          </a:p>
        </p:txBody>
      </p:sp>
      <p:sp>
        <p:nvSpPr>
          <p:cNvPr id="22" name="Text 2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23" name="Text 21"/>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THE SOLUTION</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A conformance playground, not another mock</a:t>
            </a:r>
            <a:endParaRPr lang="en-US" sz="3800" dirty="0"/>
          </a:p>
        </p:txBody>
      </p:sp>
      <p:sp>
        <p:nvSpPr>
          <p:cNvPr id="4" name="Shape 2"/>
          <p:cNvSpPr/>
          <p:nvPr/>
        </p:nvSpPr>
        <p:spPr>
          <a:xfrm>
            <a:off x="548640" y="1783080"/>
            <a:ext cx="3520440" cy="2103120"/>
          </a:xfrm>
          <a:prstGeom prst="roundRect">
            <a:avLst>
              <a:gd name="adj" fmla="val 3478"/>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77240" y="1993392"/>
            <a:ext cx="3017520" cy="320040"/>
          </a:xfrm>
          <a:prstGeom prst="rect">
            <a:avLst/>
          </a:prstGeom>
          <a:noFill/>
          <a:ln/>
        </p:spPr>
        <p:txBody>
          <a:bodyPr wrap="square" lIns="0" tIns="0" rIns="0" bIns="0" rtlCol="0" anchor="ctr"/>
          <a:lstStyle/>
          <a:p>
            <a:pPr indent="0" marL="0">
              <a:buNone/>
            </a:pPr>
            <a:r>
              <a:rPr lang="en-US" sz="1400" b="1" spc="200" kern="0" dirty="0">
                <a:solidFill>
                  <a:srgbClr val="22D3EE"/>
                </a:solidFill>
                <a:latin typeface="Consolas" pitchFamily="34" charset="0"/>
                <a:ea typeface="Consolas" pitchFamily="34" charset="-122"/>
                <a:cs typeface="Consolas" pitchFamily="34" charset="-120"/>
              </a:rPr>
              <a:t>ISSUER</a:t>
            </a:r>
            <a:endParaRPr lang="en-US" sz="1400" dirty="0"/>
          </a:p>
        </p:txBody>
      </p:sp>
      <p:sp>
        <p:nvSpPr>
          <p:cNvPr id="6" name="Text 4"/>
          <p:cNvSpPr/>
          <p:nvPr/>
        </p:nvSpPr>
        <p:spPr>
          <a:xfrm>
            <a:off x="777240" y="2395728"/>
            <a:ext cx="3108960" cy="137160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Mock Inji Certify (Draft 13)</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Live Collab sandbox probe</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Draft 14 transpilation mode</a:t>
            </a:r>
            <a:endParaRPr lang="en-US" sz="1350" dirty="0"/>
          </a:p>
        </p:txBody>
      </p:sp>
      <p:sp>
        <p:nvSpPr>
          <p:cNvPr id="7" name="Text 5"/>
          <p:cNvSpPr/>
          <p:nvPr/>
        </p:nvSpPr>
        <p:spPr>
          <a:xfrm>
            <a:off x="4041648" y="2606040"/>
            <a:ext cx="365760" cy="45720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pitchFamily="34" charset="0"/>
                <a:ea typeface="Segoe UI" pitchFamily="34" charset="-122"/>
                <a:cs typeface="Segoe UI" pitchFamily="34" charset="-120"/>
              </a:rPr>
              <a:t>→</a:t>
            </a:r>
            <a:endParaRPr lang="en-US" sz="2400" dirty="0"/>
          </a:p>
        </p:txBody>
      </p:sp>
      <p:sp>
        <p:nvSpPr>
          <p:cNvPr id="8" name="Shape 6"/>
          <p:cNvSpPr/>
          <p:nvPr/>
        </p:nvSpPr>
        <p:spPr>
          <a:xfrm>
            <a:off x="4325112" y="1783080"/>
            <a:ext cx="3520440" cy="2103120"/>
          </a:xfrm>
          <a:prstGeom prst="roundRect">
            <a:avLst>
              <a:gd name="adj" fmla="val 3478"/>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4553712" y="1993392"/>
            <a:ext cx="3017520" cy="320040"/>
          </a:xfrm>
          <a:prstGeom prst="rect">
            <a:avLst/>
          </a:prstGeom>
          <a:noFill/>
          <a:ln/>
        </p:spPr>
        <p:txBody>
          <a:bodyPr wrap="square" lIns="0" tIns="0" rIns="0" bIns="0" rtlCol="0" anchor="ctr"/>
          <a:lstStyle/>
          <a:p>
            <a:pPr indent="0" marL="0">
              <a:buNone/>
            </a:pPr>
            <a:r>
              <a:rPr lang="en-US" sz="1400" b="1" spc="200" kern="0" dirty="0">
                <a:solidFill>
                  <a:srgbClr val="22D3EE"/>
                </a:solidFill>
                <a:latin typeface="Consolas" pitchFamily="34" charset="0"/>
                <a:ea typeface="Consolas" pitchFamily="34" charset="-122"/>
                <a:cs typeface="Consolas" pitchFamily="34" charset="-120"/>
              </a:rPr>
              <a:t>WALLET</a:t>
            </a:r>
            <a:endParaRPr lang="en-US" sz="1400" dirty="0"/>
          </a:p>
        </p:txBody>
      </p:sp>
      <p:sp>
        <p:nvSpPr>
          <p:cNvPr id="10" name="Text 8"/>
          <p:cNvSpPr/>
          <p:nvPr/>
        </p:nvSpPr>
        <p:spPr>
          <a:xfrm>
            <a:off x="4553712" y="2395728"/>
            <a:ext cx="3108960" cy="137160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Headless synthetic agent</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Real ephemeral P-256 keys</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DPoP + kb+jwt proof engine</a:t>
            </a:r>
            <a:endParaRPr lang="en-US" sz="1350" dirty="0"/>
          </a:p>
        </p:txBody>
      </p:sp>
      <p:sp>
        <p:nvSpPr>
          <p:cNvPr id="11" name="Text 9"/>
          <p:cNvSpPr/>
          <p:nvPr/>
        </p:nvSpPr>
        <p:spPr>
          <a:xfrm>
            <a:off x="7818120" y="2606040"/>
            <a:ext cx="365760" cy="457200"/>
          </a:xfrm>
          <a:prstGeom prst="rect">
            <a:avLst/>
          </a:prstGeom>
          <a:noFill/>
          <a:ln/>
        </p:spPr>
        <p:txBody>
          <a:bodyPr wrap="square" lIns="0" tIns="0" rIns="0" bIns="0" rtlCol="0" anchor="ctr"/>
          <a:lstStyle/>
          <a:p>
            <a:pPr algn="ctr" indent="0" marL="0">
              <a:buNone/>
            </a:pPr>
            <a:r>
              <a:rPr lang="en-US" sz="2400" dirty="0">
                <a:solidFill>
                  <a:srgbClr val="22D3EE"/>
                </a:solidFill>
                <a:latin typeface="Segoe UI" pitchFamily="34" charset="0"/>
                <a:ea typeface="Segoe UI" pitchFamily="34" charset="-122"/>
                <a:cs typeface="Segoe UI" pitchFamily="34" charset="-120"/>
              </a:rPr>
              <a:t>→</a:t>
            </a:r>
            <a:endParaRPr lang="en-US" sz="2400" dirty="0"/>
          </a:p>
        </p:txBody>
      </p:sp>
      <p:sp>
        <p:nvSpPr>
          <p:cNvPr id="12" name="Shape 10"/>
          <p:cNvSpPr/>
          <p:nvPr/>
        </p:nvSpPr>
        <p:spPr>
          <a:xfrm>
            <a:off x="8101584" y="1783080"/>
            <a:ext cx="3520440" cy="2103120"/>
          </a:xfrm>
          <a:prstGeom prst="roundRect">
            <a:avLst>
              <a:gd name="adj" fmla="val 3478"/>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8330184" y="1993392"/>
            <a:ext cx="3017520" cy="320040"/>
          </a:xfrm>
          <a:prstGeom prst="rect">
            <a:avLst/>
          </a:prstGeom>
          <a:noFill/>
          <a:ln/>
        </p:spPr>
        <p:txBody>
          <a:bodyPr wrap="square" lIns="0" tIns="0" rIns="0" bIns="0" rtlCol="0" anchor="ctr"/>
          <a:lstStyle/>
          <a:p>
            <a:pPr indent="0" marL="0">
              <a:buNone/>
            </a:pPr>
            <a:r>
              <a:rPr lang="en-US" sz="1400" b="1" spc="200" kern="0" dirty="0">
                <a:solidFill>
                  <a:srgbClr val="22D3EE"/>
                </a:solidFill>
                <a:latin typeface="Consolas" pitchFamily="34" charset="0"/>
                <a:ea typeface="Consolas" pitchFamily="34" charset="-122"/>
                <a:cs typeface="Consolas" pitchFamily="34" charset="-120"/>
              </a:rPr>
              <a:t>VERIFIER</a:t>
            </a:r>
            <a:endParaRPr lang="en-US" sz="1400" dirty="0"/>
          </a:p>
        </p:txBody>
      </p:sp>
      <p:sp>
        <p:nvSpPr>
          <p:cNvPr id="14" name="Text 12"/>
          <p:cNvSpPr/>
          <p:nvPr/>
        </p:nvSpPr>
        <p:spPr>
          <a:xfrm>
            <a:off x="8330184" y="2395728"/>
            <a:ext cx="3108960" cy="137160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Mock Inji Verify (Draft 21-23)</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DIF PE 2.0 + DCQL queries</a:t>
            </a:r>
            <a:endParaRPr lang="en-US" sz="1350" dirty="0"/>
          </a:p>
          <a:p>
            <a:pPr marL="152400" indent="-152400">
              <a:spcAft>
                <a:spcPts val="800"/>
              </a:spcAft>
              <a:buSzPct val="100000"/>
              <a:buChar char="▸"/>
            </a:pPr>
            <a:r>
              <a:rPr lang="en-US" sz="1350" dirty="0">
                <a:solidFill>
                  <a:srgbClr val="F1F5F9"/>
                </a:solidFill>
                <a:latin typeface="Segoe UI" pitchFamily="34" charset="0"/>
                <a:ea typeface="Segoe UI" pitchFamily="34" charset="-122"/>
                <a:cs typeface="Segoe UI" pitchFamily="34" charset="-120"/>
              </a:rPr>
              <a:t>Fail-closed trust registry</a:t>
            </a:r>
            <a:endParaRPr lang="en-US" sz="1350" dirty="0"/>
          </a:p>
        </p:txBody>
      </p:sp>
      <p:sp>
        <p:nvSpPr>
          <p:cNvPr id="15" name="Shape 13"/>
          <p:cNvSpPr/>
          <p:nvPr/>
        </p:nvSpPr>
        <p:spPr>
          <a:xfrm>
            <a:off x="548640" y="4160520"/>
            <a:ext cx="822960" cy="502920"/>
          </a:xfrm>
          <a:prstGeom prst="roundRect">
            <a:avLst>
              <a:gd name="adj" fmla="val 14545"/>
            </a:avLst>
          </a:prstGeom>
          <a:solidFill>
            <a:srgbClr val="0E1B33"/>
          </a:solidFill>
          <a:ln w="12700">
            <a:solidFill>
              <a:srgbClr val="22304E"/>
            </a:solidFill>
            <a:prstDash val="solid"/>
          </a:ln>
        </p:spPr>
      </p:sp>
      <p:sp>
        <p:nvSpPr>
          <p:cNvPr id="16" name="Text 14"/>
          <p:cNvSpPr/>
          <p:nvPr/>
        </p:nvSpPr>
        <p:spPr>
          <a:xfrm>
            <a:off x="548640" y="4160520"/>
            <a:ext cx="822960" cy="502920"/>
          </a:xfrm>
          <a:prstGeom prst="rect">
            <a:avLst/>
          </a:prstGeom>
          <a:noFill/>
          <a:ln/>
        </p:spPr>
        <p:txBody>
          <a:bodyPr wrap="square" lIns="0" tIns="0" rIns="0" bIns="0" rtlCol="0" anchor="ctr"/>
          <a:lstStyle/>
          <a:p>
            <a:pPr algn="ctr" indent="0" marL="0">
              <a:buNone/>
            </a:pPr>
            <a:r>
              <a:rPr lang="en-US" sz="1250" b="1" dirty="0">
                <a:solidFill>
                  <a:srgbClr val="34D399"/>
                </a:solidFill>
                <a:latin typeface="Consolas" pitchFamily="34" charset="0"/>
                <a:ea typeface="Consolas" pitchFamily="34" charset="-122"/>
                <a:cs typeface="Consolas" pitchFamily="34" charset="-120"/>
              </a:rPr>
              <a:t>Execute</a:t>
            </a:r>
            <a:endParaRPr lang="en-US" sz="1250" dirty="0"/>
          </a:p>
        </p:txBody>
      </p:sp>
      <p:sp>
        <p:nvSpPr>
          <p:cNvPr id="17" name="Text 15"/>
          <p:cNvSpPr/>
          <p:nvPr/>
        </p:nvSpPr>
        <p:spPr>
          <a:xfrm>
            <a:off x="1554480" y="4178808"/>
            <a:ext cx="4709160" cy="914400"/>
          </a:xfrm>
          <a:prstGeom prst="rect">
            <a:avLst/>
          </a:prstGeom>
          <a:noFill/>
          <a:ln/>
        </p:spPr>
        <p:txBody>
          <a:bodyPr wrap="square" lIns="0" tIns="0" rIns="0" bIns="0" rtlCol="0" anchor="t"/>
          <a:lstStyle/>
          <a:p>
            <a:pPr indent="0" marL="0">
              <a:lnSpc>
                <a:spcPct val="112000"/>
              </a:lnSpc>
              <a:buNone/>
            </a:pPr>
            <a:r>
              <a:rPr lang="en-US" sz="1350" dirty="0">
                <a:solidFill>
                  <a:srgbClr val="F1F5F9"/>
                </a:solidFill>
                <a:latin typeface="Segoe UI" pitchFamily="34" charset="0"/>
                <a:ea typeface="Segoe UI" pitchFamily="34" charset="-122"/>
                <a:cs typeface="Segoe UI" pitchFamily="34" charset="-120"/>
              </a:rPr>
              <a:t>any permutation of the 3 lanes across 4 credential formats with one click</a:t>
            </a:r>
            <a:endParaRPr lang="en-US" sz="1350" dirty="0"/>
          </a:p>
        </p:txBody>
      </p:sp>
      <p:sp>
        <p:nvSpPr>
          <p:cNvPr id="18" name="Shape 16"/>
          <p:cNvSpPr/>
          <p:nvPr/>
        </p:nvSpPr>
        <p:spPr>
          <a:xfrm>
            <a:off x="6355080" y="4160520"/>
            <a:ext cx="822960" cy="502920"/>
          </a:xfrm>
          <a:prstGeom prst="roundRect">
            <a:avLst>
              <a:gd name="adj" fmla="val 14545"/>
            </a:avLst>
          </a:prstGeom>
          <a:solidFill>
            <a:srgbClr val="0E1B33"/>
          </a:solidFill>
          <a:ln w="12700">
            <a:solidFill>
              <a:srgbClr val="22304E"/>
            </a:solidFill>
            <a:prstDash val="solid"/>
          </a:ln>
        </p:spPr>
      </p:sp>
      <p:sp>
        <p:nvSpPr>
          <p:cNvPr id="19" name="Text 17"/>
          <p:cNvSpPr/>
          <p:nvPr/>
        </p:nvSpPr>
        <p:spPr>
          <a:xfrm>
            <a:off x="6355080" y="4160520"/>
            <a:ext cx="822960" cy="502920"/>
          </a:xfrm>
          <a:prstGeom prst="rect">
            <a:avLst/>
          </a:prstGeom>
          <a:noFill/>
          <a:ln/>
        </p:spPr>
        <p:txBody>
          <a:bodyPr wrap="square" lIns="0" tIns="0" rIns="0" bIns="0" rtlCol="0" anchor="ctr"/>
          <a:lstStyle/>
          <a:p>
            <a:pPr algn="ctr" indent="0" marL="0">
              <a:buNone/>
            </a:pPr>
            <a:r>
              <a:rPr lang="en-US" sz="1250" b="1" dirty="0">
                <a:solidFill>
                  <a:srgbClr val="34D399"/>
                </a:solidFill>
                <a:latin typeface="Consolas" pitchFamily="34" charset="0"/>
                <a:ea typeface="Consolas" pitchFamily="34" charset="-122"/>
                <a:cs typeface="Consolas" pitchFamily="34" charset="-120"/>
              </a:rPr>
              <a:t>Inspect</a:t>
            </a:r>
            <a:endParaRPr lang="en-US" sz="1250" dirty="0"/>
          </a:p>
        </p:txBody>
      </p:sp>
      <p:sp>
        <p:nvSpPr>
          <p:cNvPr id="20" name="Text 18"/>
          <p:cNvSpPr/>
          <p:nvPr/>
        </p:nvSpPr>
        <p:spPr>
          <a:xfrm>
            <a:off x="7360920" y="4178808"/>
            <a:ext cx="4709160" cy="914400"/>
          </a:xfrm>
          <a:prstGeom prst="rect">
            <a:avLst/>
          </a:prstGeom>
          <a:noFill/>
          <a:ln/>
        </p:spPr>
        <p:txBody>
          <a:bodyPr wrap="square" lIns="0" tIns="0" rIns="0" bIns="0" rtlCol="0" anchor="t"/>
          <a:lstStyle/>
          <a:p>
            <a:pPr indent="0" marL="0">
              <a:lnSpc>
                <a:spcPct val="112000"/>
              </a:lnSpc>
              <a:buNone/>
            </a:pPr>
            <a:r>
              <a:rPr lang="en-US" sz="1350" dirty="0">
                <a:solidFill>
                  <a:srgbClr val="F1F5F9"/>
                </a:solidFill>
                <a:latin typeface="Segoe UI" pitchFamily="34" charset="0"/>
                <a:ea typeface="Segoe UI" pitchFamily="34" charset="-122"/>
                <a:cs typeface="Segoe UI" pitchFamily="34" charset="-120"/>
              </a:rPr>
              <a:t>every raw payload — decoded JWTs, disclosures, digests, MSO valueDigests, live WS telemetry</a:t>
            </a:r>
            <a:endParaRPr lang="en-US" sz="1350" dirty="0"/>
          </a:p>
        </p:txBody>
      </p:sp>
      <p:sp>
        <p:nvSpPr>
          <p:cNvPr id="21" name="Shape 19"/>
          <p:cNvSpPr/>
          <p:nvPr/>
        </p:nvSpPr>
        <p:spPr>
          <a:xfrm>
            <a:off x="548640" y="5184648"/>
            <a:ext cx="822960" cy="502920"/>
          </a:xfrm>
          <a:prstGeom prst="roundRect">
            <a:avLst>
              <a:gd name="adj" fmla="val 14545"/>
            </a:avLst>
          </a:prstGeom>
          <a:solidFill>
            <a:srgbClr val="0E1B33"/>
          </a:solidFill>
          <a:ln w="12700">
            <a:solidFill>
              <a:srgbClr val="22304E"/>
            </a:solidFill>
            <a:prstDash val="solid"/>
          </a:ln>
        </p:spPr>
      </p:sp>
      <p:sp>
        <p:nvSpPr>
          <p:cNvPr id="22" name="Text 20"/>
          <p:cNvSpPr/>
          <p:nvPr/>
        </p:nvSpPr>
        <p:spPr>
          <a:xfrm>
            <a:off x="548640" y="5184648"/>
            <a:ext cx="822960" cy="502920"/>
          </a:xfrm>
          <a:prstGeom prst="rect">
            <a:avLst/>
          </a:prstGeom>
          <a:noFill/>
          <a:ln/>
        </p:spPr>
        <p:txBody>
          <a:bodyPr wrap="square" lIns="0" tIns="0" rIns="0" bIns="0" rtlCol="0" anchor="ctr"/>
          <a:lstStyle/>
          <a:p>
            <a:pPr algn="ctr" indent="0" marL="0">
              <a:buNone/>
            </a:pPr>
            <a:r>
              <a:rPr lang="en-US" sz="1250" b="1" dirty="0">
                <a:solidFill>
                  <a:srgbClr val="34D399"/>
                </a:solidFill>
                <a:latin typeface="Consolas" pitchFamily="34" charset="0"/>
                <a:ea typeface="Consolas" pitchFamily="34" charset="-122"/>
                <a:cs typeface="Consolas" pitchFamily="34" charset="-120"/>
              </a:rPr>
              <a:t>Attack</a:t>
            </a:r>
            <a:endParaRPr lang="en-US" sz="1250" dirty="0"/>
          </a:p>
        </p:txBody>
      </p:sp>
      <p:sp>
        <p:nvSpPr>
          <p:cNvPr id="23" name="Text 21"/>
          <p:cNvSpPr/>
          <p:nvPr/>
        </p:nvSpPr>
        <p:spPr>
          <a:xfrm>
            <a:off x="1554480" y="5202936"/>
            <a:ext cx="4709160" cy="914400"/>
          </a:xfrm>
          <a:prstGeom prst="rect">
            <a:avLst/>
          </a:prstGeom>
          <a:noFill/>
          <a:ln/>
        </p:spPr>
        <p:txBody>
          <a:bodyPr wrap="square" lIns="0" tIns="0" rIns="0" bIns="0" rtlCol="0" anchor="t"/>
          <a:lstStyle/>
          <a:p>
            <a:pPr indent="0" marL="0">
              <a:lnSpc>
                <a:spcPct val="112000"/>
              </a:lnSpc>
              <a:buNone/>
            </a:pPr>
            <a:r>
              <a:rPr lang="en-US" sz="1350" dirty="0">
                <a:solidFill>
                  <a:srgbClr val="F1F5F9"/>
                </a:solidFill>
                <a:latin typeface="Segoe UI" pitchFamily="34" charset="0"/>
                <a:ea typeface="Segoe UI" pitchFamily="34" charset="-122"/>
                <a:cs typeface="Segoe UI" pitchFamily="34" charset="-120"/>
              </a:rPr>
              <a:t>8 chaos vectors + 10 adversarial probes must each be rejected with its exact RFC 7807 code</a:t>
            </a:r>
            <a:endParaRPr lang="en-US" sz="1350" dirty="0"/>
          </a:p>
        </p:txBody>
      </p:sp>
      <p:sp>
        <p:nvSpPr>
          <p:cNvPr id="24" name="Shape 22"/>
          <p:cNvSpPr/>
          <p:nvPr/>
        </p:nvSpPr>
        <p:spPr>
          <a:xfrm>
            <a:off x="6355080" y="5184648"/>
            <a:ext cx="822960" cy="502920"/>
          </a:xfrm>
          <a:prstGeom prst="roundRect">
            <a:avLst>
              <a:gd name="adj" fmla="val 14545"/>
            </a:avLst>
          </a:prstGeom>
          <a:solidFill>
            <a:srgbClr val="0E1B33"/>
          </a:solidFill>
          <a:ln w="12700">
            <a:solidFill>
              <a:srgbClr val="22304E"/>
            </a:solidFill>
            <a:prstDash val="solid"/>
          </a:ln>
        </p:spPr>
      </p:sp>
      <p:sp>
        <p:nvSpPr>
          <p:cNvPr id="25" name="Text 23"/>
          <p:cNvSpPr/>
          <p:nvPr/>
        </p:nvSpPr>
        <p:spPr>
          <a:xfrm>
            <a:off x="6355080" y="5184648"/>
            <a:ext cx="822960" cy="502920"/>
          </a:xfrm>
          <a:prstGeom prst="rect">
            <a:avLst/>
          </a:prstGeom>
          <a:noFill/>
          <a:ln/>
        </p:spPr>
        <p:txBody>
          <a:bodyPr wrap="square" lIns="0" tIns="0" rIns="0" bIns="0" rtlCol="0" anchor="ctr"/>
          <a:lstStyle/>
          <a:p>
            <a:pPr algn="ctr" indent="0" marL="0">
              <a:buNone/>
            </a:pPr>
            <a:r>
              <a:rPr lang="en-US" sz="1250" b="1" dirty="0">
                <a:solidFill>
                  <a:srgbClr val="34D399"/>
                </a:solidFill>
                <a:latin typeface="Consolas" pitchFamily="34" charset="0"/>
                <a:ea typeface="Consolas" pitchFamily="34" charset="-122"/>
                <a:cs typeface="Consolas" pitchFamily="34" charset="-120"/>
              </a:rPr>
              <a:t>Report</a:t>
            </a:r>
            <a:endParaRPr lang="en-US" sz="1250" dirty="0"/>
          </a:p>
        </p:txBody>
      </p:sp>
      <p:sp>
        <p:nvSpPr>
          <p:cNvPr id="26" name="Text 24"/>
          <p:cNvSpPr/>
          <p:nvPr/>
        </p:nvSpPr>
        <p:spPr>
          <a:xfrm>
            <a:off x="7360920" y="5202936"/>
            <a:ext cx="4709160" cy="914400"/>
          </a:xfrm>
          <a:prstGeom prst="rect">
            <a:avLst/>
          </a:prstGeom>
          <a:noFill/>
          <a:ln/>
        </p:spPr>
        <p:txBody>
          <a:bodyPr wrap="square" lIns="0" tIns="0" rIns="0" bIns="0" rtlCol="0" anchor="t"/>
          <a:lstStyle/>
          <a:p>
            <a:pPr indent="0" marL="0">
              <a:lnSpc>
                <a:spcPct val="112000"/>
              </a:lnSpc>
              <a:buNone/>
            </a:pPr>
            <a:r>
              <a:rPr lang="en-US" sz="1350" dirty="0">
                <a:solidFill>
                  <a:srgbClr val="F1F5F9"/>
                </a:solidFill>
                <a:latin typeface="Segoe UI" pitchFamily="34" charset="0"/>
                <a:ea typeface="Segoe UI" pitchFamily="34" charset="-122"/>
                <a:cs typeface="Segoe UI" pitchFamily="34" charset="-120"/>
              </a:rPr>
              <a:t>honest scorecard, SQLite history, and upstream RFC 7807 bug exports ready to file</a:t>
            </a:r>
            <a:endParaRPr lang="en-US" sz="1350" dirty="0"/>
          </a:p>
        </p:txBody>
      </p:sp>
      <p:sp>
        <p:nvSpPr>
          <p:cNvPr id="27" name="Text 25"/>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28" name="Text 26"/>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ARCHITECTURE</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Four services, one command, real cryptography</a:t>
            </a:r>
            <a:endParaRPr lang="en-US" sz="3800" dirty="0"/>
          </a:p>
        </p:txBody>
      </p:sp>
      <p:sp>
        <p:nvSpPr>
          <p:cNvPr id="4" name="Shape 2"/>
          <p:cNvSpPr/>
          <p:nvPr/>
        </p:nvSpPr>
        <p:spPr>
          <a:xfrm>
            <a:off x="548640" y="2103120"/>
            <a:ext cx="246888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13232" y="2249424"/>
            <a:ext cx="2194560" cy="320040"/>
          </a:xfrm>
          <a:prstGeom prst="rect">
            <a:avLst/>
          </a:prstGeom>
          <a:noFill/>
          <a:ln/>
        </p:spPr>
        <p:txBody>
          <a:bodyPr wrap="square" lIns="0" tIns="0" rIns="0" bIns="0" rtlCol="0" anchor="ctr"/>
          <a:lstStyle/>
          <a:p>
            <a:pPr indent="0" marL="0">
              <a:buNone/>
            </a:pPr>
            <a:r>
              <a:rPr lang="en-US" sz="1550" b="1" dirty="0">
                <a:solidFill>
                  <a:srgbClr val="F1F5F9"/>
                </a:solidFill>
                <a:latin typeface="Segoe UI" pitchFamily="34" charset="0"/>
                <a:ea typeface="Segoe UI" pitchFamily="34" charset="-122"/>
                <a:cs typeface="Segoe UI" pitchFamily="34" charset="-120"/>
              </a:rPr>
              <a:t>React UI</a:t>
            </a:r>
            <a:endParaRPr lang="en-US" sz="1550" dirty="0"/>
          </a:p>
        </p:txBody>
      </p:sp>
      <p:sp>
        <p:nvSpPr>
          <p:cNvPr id="6" name="Text 4"/>
          <p:cNvSpPr/>
          <p:nvPr/>
        </p:nvSpPr>
        <p:spPr>
          <a:xfrm>
            <a:off x="713232" y="2560320"/>
            <a:ext cx="2194560" cy="274320"/>
          </a:xfrm>
          <a:prstGeom prst="rect">
            <a:avLst/>
          </a:prstGeom>
          <a:noFill/>
          <a:ln/>
        </p:spPr>
        <p:txBody>
          <a:bodyPr wrap="square" lIns="0" tIns="0" rIns="0" bIns="0" rtlCol="0" anchor="ctr"/>
          <a:lstStyle/>
          <a:p>
            <a:pPr indent="0" marL="0">
              <a:buNone/>
            </a:pPr>
            <a:r>
              <a:rPr lang="en-US" sz="1200" dirty="0">
                <a:solidFill>
                  <a:srgbClr val="22D3EE"/>
                </a:solidFill>
                <a:latin typeface="Consolas" pitchFamily="34" charset="0"/>
                <a:ea typeface="Consolas" pitchFamily="34" charset="-122"/>
                <a:cs typeface="Consolas" pitchFamily="34" charset="-120"/>
              </a:rPr>
              <a:t>:3000</a:t>
            </a:r>
            <a:endParaRPr lang="en-US" sz="1200" dirty="0"/>
          </a:p>
        </p:txBody>
      </p:sp>
      <p:sp>
        <p:nvSpPr>
          <p:cNvPr id="7" name="Text 5"/>
          <p:cNvSpPr/>
          <p:nvPr/>
        </p:nvSpPr>
        <p:spPr>
          <a:xfrm>
            <a:off x="713232" y="2871216"/>
            <a:ext cx="2176272" cy="914400"/>
          </a:xfrm>
          <a:prstGeom prst="rect">
            <a:avLst/>
          </a:prstGeom>
          <a:noFill/>
          <a:ln/>
        </p:spPr>
        <p:txBody>
          <a:bodyPr wrap="square" lIns="0" tIns="0" rIns="0" bIns="0" rtlCol="0" anchor="ctr"/>
          <a:lstStyle/>
          <a:p>
            <a:pPr indent="0" marL="0">
              <a:lnSpc>
                <a:spcPct val="110000"/>
              </a:lnSpc>
              <a:buNone/>
            </a:pPr>
            <a:r>
              <a:rPr lang="en-US" sz="1100" dirty="0">
                <a:solidFill>
                  <a:srgbClr val="8DA2BD"/>
                </a:solidFill>
                <a:latin typeface="Segoe UI" pitchFamily="34" charset="0"/>
                <a:ea typeface="Segoe UI" pitchFamily="34" charset="-122"/>
                <a:cs typeface="Segoe UI" pitchFamily="34" charset="-120"/>
              </a:rPr>
              <a:t>3-lane matrix, 7-tab inspector, live Mermaid, scorecard</a:t>
            </a:r>
            <a:endParaRPr lang="en-US" sz="1100" dirty="0"/>
          </a:p>
        </p:txBody>
      </p:sp>
      <p:sp>
        <p:nvSpPr>
          <p:cNvPr id="8" name="Shape 6"/>
          <p:cNvSpPr/>
          <p:nvPr/>
        </p:nvSpPr>
        <p:spPr>
          <a:xfrm>
            <a:off x="3520440" y="2103120"/>
            <a:ext cx="246888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3685032" y="2249424"/>
            <a:ext cx="2194560" cy="320040"/>
          </a:xfrm>
          <a:prstGeom prst="rect">
            <a:avLst/>
          </a:prstGeom>
          <a:noFill/>
          <a:ln/>
        </p:spPr>
        <p:txBody>
          <a:bodyPr wrap="square" lIns="0" tIns="0" rIns="0" bIns="0" rtlCol="0" anchor="ctr"/>
          <a:lstStyle/>
          <a:p>
            <a:pPr indent="0" marL="0">
              <a:buNone/>
            </a:pPr>
            <a:r>
              <a:rPr lang="en-US" sz="1550" b="1" dirty="0">
                <a:solidFill>
                  <a:srgbClr val="F1F5F9"/>
                </a:solidFill>
                <a:latin typeface="Segoe UI" pitchFamily="34" charset="0"/>
                <a:ea typeface="Segoe UI" pitchFamily="34" charset="-122"/>
                <a:cs typeface="Segoe UI" pitchFamily="34" charset="-120"/>
              </a:rPr>
              <a:t>BFF Gateway</a:t>
            </a:r>
            <a:endParaRPr lang="en-US" sz="1550" dirty="0"/>
          </a:p>
        </p:txBody>
      </p:sp>
      <p:sp>
        <p:nvSpPr>
          <p:cNvPr id="10" name="Text 8"/>
          <p:cNvSpPr/>
          <p:nvPr/>
        </p:nvSpPr>
        <p:spPr>
          <a:xfrm>
            <a:off x="3685032" y="2560320"/>
            <a:ext cx="2194560" cy="274320"/>
          </a:xfrm>
          <a:prstGeom prst="rect">
            <a:avLst/>
          </a:prstGeom>
          <a:noFill/>
          <a:ln/>
        </p:spPr>
        <p:txBody>
          <a:bodyPr wrap="square" lIns="0" tIns="0" rIns="0" bIns="0" rtlCol="0" anchor="ctr"/>
          <a:lstStyle/>
          <a:p>
            <a:pPr indent="0" marL="0">
              <a:buNone/>
            </a:pPr>
            <a:r>
              <a:rPr lang="en-US" sz="1200" dirty="0">
                <a:solidFill>
                  <a:srgbClr val="22D3EE"/>
                </a:solidFill>
                <a:latin typeface="Consolas" pitchFamily="34" charset="0"/>
                <a:ea typeface="Consolas" pitchFamily="34" charset="-122"/>
                <a:cs typeface="Consolas" pitchFamily="34" charset="-120"/>
              </a:rPr>
              <a:t>:4000</a:t>
            </a:r>
            <a:endParaRPr lang="en-US" sz="1200" dirty="0"/>
          </a:p>
        </p:txBody>
      </p:sp>
      <p:sp>
        <p:nvSpPr>
          <p:cNvPr id="11" name="Text 9"/>
          <p:cNvSpPr/>
          <p:nvPr/>
        </p:nvSpPr>
        <p:spPr>
          <a:xfrm>
            <a:off x="3685032" y="2871216"/>
            <a:ext cx="2176272" cy="914400"/>
          </a:xfrm>
          <a:prstGeom prst="rect">
            <a:avLst/>
          </a:prstGeom>
          <a:noFill/>
          <a:ln/>
        </p:spPr>
        <p:txBody>
          <a:bodyPr wrap="square" lIns="0" tIns="0" rIns="0" bIns="0" rtlCol="0" anchor="ctr"/>
          <a:lstStyle/>
          <a:p>
            <a:pPr indent="0" marL="0">
              <a:lnSpc>
                <a:spcPct val="110000"/>
              </a:lnSpc>
              <a:buNone/>
            </a:pPr>
            <a:r>
              <a:rPr lang="en-US" sz="1100" dirty="0">
                <a:solidFill>
                  <a:srgbClr val="8DA2BD"/>
                </a:solidFill>
                <a:latin typeface="Segoe UI" pitchFamily="34" charset="0"/>
                <a:ea typeface="Segoe UI" pitchFamily="34" charset="-122"/>
                <a:cs typeface="Segoe UI" pitchFamily="34" charset="-120"/>
              </a:rPr>
              <a:t>Orchestrator, 8-lane matrix runner, WS telemetry, SQLite WAL</a:t>
            </a:r>
            <a:endParaRPr lang="en-US" sz="1100" dirty="0"/>
          </a:p>
        </p:txBody>
      </p:sp>
      <p:sp>
        <p:nvSpPr>
          <p:cNvPr id="12" name="Shape 10"/>
          <p:cNvSpPr/>
          <p:nvPr/>
        </p:nvSpPr>
        <p:spPr>
          <a:xfrm>
            <a:off x="7040880" y="2103120"/>
            <a:ext cx="246888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7205472" y="2249424"/>
            <a:ext cx="2194560" cy="320040"/>
          </a:xfrm>
          <a:prstGeom prst="rect">
            <a:avLst/>
          </a:prstGeom>
          <a:noFill/>
          <a:ln/>
        </p:spPr>
        <p:txBody>
          <a:bodyPr wrap="square" lIns="0" tIns="0" rIns="0" bIns="0" rtlCol="0" anchor="ctr"/>
          <a:lstStyle/>
          <a:p>
            <a:pPr indent="0" marL="0">
              <a:buNone/>
            </a:pPr>
            <a:r>
              <a:rPr lang="en-US" sz="1550" b="1" dirty="0">
                <a:solidFill>
                  <a:srgbClr val="F1F5F9"/>
                </a:solidFill>
                <a:latin typeface="Segoe UI" pitchFamily="34" charset="0"/>
                <a:ea typeface="Segoe UI" pitchFamily="34" charset="-122"/>
                <a:cs typeface="Segoe UI" pitchFamily="34" charset="-120"/>
              </a:rPr>
              <a:t>Mock Certify</a:t>
            </a:r>
            <a:endParaRPr lang="en-US" sz="1550" dirty="0"/>
          </a:p>
        </p:txBody>
      </p:sp>
      <p:sp>
        <p:nvSpPr>
          <p:cNvPr id="14" name="Text 12"/>
          <p:cNvSpPr/>
          <p:nvPr/>
        </p:nvSpPr>
        <p:spPr>
          <a:xfrm>
            <a:off x="7205472" y="2560320"/>
            <a:ext cx="2194560" cy="274320"/>
          </a:xfrm>
          <a:prstGeom prst="rect">
            <a:avLst/>
          </a:prstGeom>
          <a:noFill/>
          <a:ln/>
        </p:spPr>
        <p:txBody>
          <a:bodyPr wrap="square" lIns="0" tIns="0" rIns="0" bIns="0" rtlCol="0" anchor="ctr"/>
          <a:lstStyle/>
          <a:p>
            <a:pPr indent="0" marL="0">
              <a:buNone/>
            </a:pPr>
            <a:r>
              <a:rPr lang="en-US" sz="1200" dirty="0">
                <a:solidFill>
                  <a:srgbClr val="22D3EE"/>
                </a:solidFill>
                <a:latin typeface="Consolas" pitchFamily="34" charset="0"/>
                <a:ea typeface="Consolas" pitchFamily="34" charset="-122"/>
                <a:cs typeface="Consolas" pitchFamily="34" charset="-120"/>
              </a:rPr>
              <a:t>:8080</a:t>
            </a:r>
            <a:endParaRPr lang="en-US" sz="1200" dirty="0"/>
          </a:p>
        </p:txBody>
      </p:sp>
      <p:sp>
        <p:nvSpPr>
          <p:cNvPr id="15" name="Text 13"/>
          <p:cNvSpPr/>
          <p:nvPr/>
        </p:nvSpPr>
        <p:spPr>
          <a:xfrm>
            <a:off x="7205472" y="2871216"/>
            <a:ext cx="2176272" cy="914400"/>
          </a:xfrm>
          <a:prstGeom prst="rect">
            <a:avLst/>
          </a:prstGeom>
          <a:noFill/>
          <a:ln/>
        </p:spPr>
        <p:txBody>
          <a:bodyPr wrap="square" lIns="0" tIns="0" rIns="0" bIns="0" rtlCol="0" anchor="ctr"/>
          <a:lstStyle/>
          <a:p>
            <a:pPr indent="0" marL="0">
              <a:lnSpc>
                <a:spcPct val="110000"/>
              </a:lnSpc>
              <a:buNone/>
            </a:pPr>
            <a:r>
              <a:rPr lang="en-US" sz="1100" dirty="0">
                <a:solidFill>
                  <a:srgbClr val="8DA2BD"/>
                </a:solidFill>
                <a:latin typeface="Segoe UI" pitchFamily="34" charset="0"/>
                <a:ea typeface="Segoe UI" pitchFamily="34" charset="-122"/>
                <a:cs typeface="Segoe UI" pitchFamily="34" charset="-120"/>
              </a:rPr>
              <a:t>OpenID4VCI Draft 13/14 issuer, DPoP + proof validation</a:t>
            </a:r>
            <a:endParaRPr lang="en-US" sz="1100" dirty="0"/>
          </a:p>
        </p:txBody>
      </p:sp>
      <p:sp>
        <p:nvSpPr>
          <p:cNvPr id="16" name="Shape 14"/>
          <p:cNvSpPr/>
          <p:nvPr/>
        </p:nvSpPr>
        <p:spPr>
          <a:xfrm>
            <a:off x="10561320" y="2103120"/>
            <a:ext cx="1051560" cy="1737360"/>
          </a:xfrm>
          <a:prstGeom prst="roundRect">
            <a:avLst>
              <a:gd name="adj" fmla="val 6957"/>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10725912" y="2249424"/>
            <a:ext cx="777240" cy="320040"/>
          </a:xfrm>
          <a:prstGeom prst="rect">
            <a:avLst/>
          </a:prstGeom>
          <a:noFill/>
          <a:ln/>
        </p:spPr>
        <p:txBody>
          <a:bodyPr wrap="square" lIns="0" tIns="0" rIns="0" bIns="0" rtlCol="0" anchor="ctr"/>
          <a:lstStyle/>
          <a:p>
            <a:pPr indent="0" marL="0">
              <a:buNone/>
            </a:pPr>
            <a:r>
              <a:rPr lang="en-US" sz="1550" b="1" dirty="0">
                <a:solidFill>
                  <a:srgbClr val="F1F5F9"/>
                </a:solidFill>
                <a:latin typeface="Segoe UI" pitchFamily="34" charset="0"/>
                <a:ea typeface="Segoe UI" pitchFamily="34" charset="-122"/>
                <a:cs typeface="Segoe UI" pitchFamily="34" charset="-120"/>
              </a:rPr>
              <a:t>Verify</a:t>
            </a:r>
            <a:endParaRPr lang="en-US" sz="1550" dirty="0"/>
          </a:p>
        </p:txBody>
      </p:sp>
      <p:sp>
        <p:nvSpPr>
          <p:cNvPr id="18" name="Text 16"/>
          <p:cNvSpPr/>
          <p:nvPr/>
        </p:nvSpPr>
        <p:spPr>
          <a:xfrm>
            <a:off x="10725912" y="2560320"/>
            <a:ext cx="777240" cy="274320"/>
          </a:xfrm>
          <a:prstGeom prst="rect">
            <a:avLst/>
          </a:prstGeom>
          <a:noFill/>
          <a:ln/>
        </p:spPr>
        <p:txBody>
          <a:bodyPr wrap="square" lIns="0" tIns="0" rIns="0" bIns="0" rtlCol="0" anchor="ctr"/>
          <a:lstStyle/>
          <a:p>
            <a:pPr indent="0" marL="0">
              <a:buNone/>
            </a:pPr>
            <a:r>
              <a:rPr lang="en-US" sz="1200" dirty="0">
                <a:solidFill>
                  <a:srgbClr val="22D3EE"/>
                </a:solidFill>
                <a:latin typeface="Consolas" pitchFamily="34" charset="0"/>
                <a:ea typeface="Consolas" pitchFamily="34" charset="-122"/>
                <a:cs typeface="Consolas" pitchFamily="34" charset="-120"/>
              </a:rPr>
              <a:t>:8081</a:t>
            </a:r>
            <a:endParaRPr lang="en-US" sz="1200" dirty="0"/>
          </a:p>
        </p:txBody>
      </p:sp>
      <p:sp>
        <p:nvSpPr>
          <p:cNvPr id="19" name="Text 17"/>
          <p:cNvSpPr/>
          <p:nvPr/>
        </p:nvSpPr>
        <p:spPr>
          <a:xfrm>
            <a:off x="10725912" y="2871216"/>
            <a:ext cx="758952" cy="914400"/>
          </a:xfrm>
          <a:prstGeom prst="rect">
            <a:avLst/>
          </a:prstGeom>
          <a:noFill/>
          <a:ln/>
        </p:spPr>
        <p:txBody>
          <a:bodyPr wrap="square" lIns="0" tIns="0" rIns="0" bIns="0" rtlCol="0" anchor="ctr"/>
          <a:lstStyle/>
          <a:p>
            <a:pPr indent="0" marL="0">
              <a:lnSpc>
                <a:spcPct val="110000"/>
              </a:lnSpc>
              <a:buNone/>
            </a:pPr>
            <a:r>
              <a:rPr lang="en-US" sz="1100" dirty="0">
                <a:solidFill>
                  <a:srgbClr val="8DA2BD"/>
                </a:solidFill>
                <a:latin typeface="Segoe UI" pitchFamily="34" charset="0"/>
                <a:ea typeface="Segoe UI" pitchFamily="34" charset="-122"/>
                <a:cs typeface="Segoe UI" pitchFamily="34" charset="-120"/>
              </a:rPr>
              <a:t>OpenID4VP RP</a:t>
            </a:r>
            <a:endParaRPr lang="en-US" sz="1100" dirty="0"/>
          </a:p>
        </p:txBody>
      </p:sp>
      <p:sp>
        <p:nvSpPr>
          <p:cNvPr id="20" name="Shape 18"/>
          <p:cNvSpPr/>
          <p:nvPr/>
        </p:nvSpPr>
        <p:spPr>
          <a:xfrm>
            <a:off x="3017520" y="2971800"/>
            <a:ext cx="502920" cy="0"/>
          </a:xfrm>
          <a:prstGeom prst="line">
            <a:avLst/>
          </a:prstGeom>
          <a:noFill/>
          <a:ln w="25400">
            <a:solidFill>
              <a:srgbClr val="22D3EE"/>
            </a:solidFill>
            <a:prstDash val="solid"/>
          </a:ln>
        </p:spPr>
      </p:sp>
      <p:sp>
        <p:nvSpPr>
          <p:cNvPr id="21" name="Shape 19"/>
          <p:cNvSpPr/>
          <p:nvPr/>
        </p:nvSpPr>
        <p:spPr>
          <a:xfrm>
            <a:off x="5989320" y="2971800"/>
            <a:ext cx="1051560" cy="0"/>
          </a:xfrm>
          <a:prstGeom prst="line">
            <a:avLst/>
          </a:prstGeom>
          <a:noFill/>
          <a:ln w="25400">
            <a:solidFill>
              <a:srgbClr val="22D3EE"/>
            </a:solidFill>
            <a:prstDash val="solid"/>
          </a:ln>
        </p:spPr>
      </p:sp>
      <p:sp>
        <p:nvSpPr>
          <p:cNvPr id="22" name="Shape 20"/>
          <p:cNvSpPr/>
          <p:nvPr/>
        </p:nvSpPr>
        <p:spPr>
          <a:xfrm>
            <a:off x="9509760" y="2971800"/>
            <a:ext cx="1051560" cy="0"/>
          </a:xfrm>
          <a:prstGeom prst="line">
            <a:avLst/>
          </a:prstGeom>
          <a:noFill/>
          <a:ln w="25400">
            <a:solidFill>
              <a:srgbClr val="22D3EE"/>
            </a:solidFill>
            <a:prstDash val="solid"/>
          </a:ln>
        </p:spPr>
      </p:sp>
      <p:sp>
        <p:nvSpPr>
          <p:cNvPr id="23" name="Shape 21"/>
          <p:cNvSpPr/>
          <p:nvPr/>
        </p:nvSpPr>
        <p:spPr>
          <a:xfrm>
            <a:off x="548640" y="4206240"/>
            <a:ext cx="11091672" cy="777240"/>
          </a:xfrm>
          <a:prstGeom prst="roundRect">
            <a:avLst>
              <a:gd name="adj" fmla="val 9412"/>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24" name="Text 22"/>
          <p:cNvSpPr/>
          <p:nvPr/>
        </p:nvSpPr>
        <p:spPr>
          <a:xfrm>
            <a:off x="822960" y="4206240"/>
            <a:ext cx="10607040" cy="777240"/>
          </a:xfrm>
          <a:prstGeom prst="rect">
            <a:avLst/>
          </a:prstGeom>
          <a:noFill/>
          <a:ln/>
        </p:spPr>
        <p:txBody>
          <a:bodyPr wrap="square" lIns="0" tIns="0" rIns="0" bIns="0" rtlCol="0" anchor="ctr"/>
          <a:lstStyle/>
          <a:p>
            <a:pPr indent="0" marL="0">
              <a:buNone/>
            </a:pPr>
            <a:r>
              <a:rPr lang="en-US" sz="1400" dirty="0">
                <a:solidFill>
                  <a:srgbClr val="8DA2BD"/>
                </a:solidFill>
                <a:latin typeface="Consolas" pitchFamily="34" charset="0"/>
                <a:ea typeface="Consolas" pitchFamily="34" charset="-122"/>
                <a:cs typeface="Consolas" pitchFamily="34" charset="-120"/>
              </a:rPr>
              <a:t>$ </a:t>
            </a:r>
            <a:pPr indent="0" marL="0">
              <a:buNone/>
            </a:pPr>
            <a:r>
              <a:rPr lang="en-US" sz="1400" dirty="0">
                <a:solidFill>
                  <a:srgbClr val="34D399"/>
                </a:solidFill>
                <a:latin typeface="Consolas" pitchFamily="34" charset="0"/>
                <a:ea typeface="Consolas" pitchFamily="34" charset="-122"/>
                <a:cs typeface="Consolas" pitchFamily="34" charset="-120"/>
              </a:rPr>
              <a:t>docker compose up --build</a:t>
            </a:r>
            <a:pPr indent="0" marL="0">
              <a:buNone/>
            </a:pPr>
            <a:r>
              <a:rPr lang="en-US" sz="1400" dirty="0">
                <a:solidFill>
                  <a:srgbClr val="8DA2BD"/>
                </a:solidFill>
                <a:latin typeface="Consolas" pitchFamily="34" charset="0"/>
                <a:ea typeface="Consolas" pitchFamily="34" charset="-122"/>
                <a:cs typeface="Consolas" pitchFamily="34" charset="-120"/>
              </a:rPr>
              <a:t>   →  4 healthchecked services, ordered startup, 920 MB hard ceiling  ·  or zero-Docker: </a:t>
            </a:r>
            <a:pPr indent="0" marL="0">
              <a:buNone/>
            </a:pPr>
            <a:r>
              <a:rPr lang="en-US" sz="1400" dirty="0">
                <a:solidFill>
                  <a:srgbClr val="34D399"/>
                </a:solidFill>
                <a:latin typeface="Consolas" pitchFamily="34" charset="0"/>
                <a:ea typeface="Consolas" pitchFamily="34" charset="-122"/>
                <a:cs typeface="Consolas" pitchFamily="34" charset="-120"/>
              </a:rPr>
              <a:t>node scripts/start_local.js</a:t>
            </a:r>
            <a:endParaRPr lang="en-US" sz="1400" dirty="0"/>
          </a:p>
        </p:txBody>
      </p:sp>
      <p:sp>
        <p:nvSpPr>
          <p:cNvPr id="25" name="Text 23"/>
          <p:cNvSpPr/>
          <p:nvPr/>
        </p:nvSpPr>
        <p:spPr>
          <a:xfrm>
            <a:off x="548640" y="5257800"/>
            <a:ext cx="6949440" cy="1234440"/>
          </a:xfrm>
          <a:prstGeom prst="rect">
            <a:avLst/>
          </a:prstGeom>
          <a:noFill/>
          <a:ln/>
        </p:spPr>
        <p:txBody>
          <a:bodyPr wrap="square" lIns="0" tIns="0" rIns="0" bIns="0" rtlCol="0" anchor="ctr"/>
          <a:lstStyle/>
          <a:p>
            <a:pPr marL="152400" indent="-152400">
              <a:spcAft>
                <a:spcPts val="600"/>
              </a:spcAft>
              <a:buSzPct val="100000"/>
              <a:buChar char="▸"/>
            </a:pPr>
            <a:r>
              <a:rPr lang="en-US" sz="1300" dirty="0">
                <a:solidFill>
                  <a:srgbClr val="F1F5F9"/>
                </a:solidFill>
                <a:latin typeface="Segoe UI" pitchFamily="34" charset="0"/>
                <a:ea typeface="Segoe UI" pitchFamily="34" charset="-122"/>
                <a:cs typeface="Segoe UI" pitchFamily="34" charset="-120"/>
              </a:rPr>
              <a:t>RFC 7515 · JWS P1363 64-byte r‖s, low-S</a:t>
            </a:r>
            <a:endParaRPr lang="en-US" sz="1300" dirty="0"/>
          </a:p>
          <a:p>
            <a:pPr marL="152400" indent="-152400">
              <a:spcAft>
                <a:spcPts val="600"/>
              </a:spcAft>
              <a:buSzPct val="100000"/>
              <a:buChar char="▸"/>
            </a:pPr>
            <a:r>
              <a:rPr lang="en-US" sz="1300" dirty="0">
                <a:solidFill>
                  <a:srgbClr val="F1F5F9"/>
                </a:solidFill>
                <a:latin typeface="Segoe UI" pitchFamily="34" charset="0"/>
                <a:ea typeface="Segoe UI" pitchFamily="34" charset="-122"/>
                <a:cs typeface="Segoe UI" pitchFamily="34" charset="-120"/>
              </a:rPr>
              <a:t>RFC 9449 · DPoP ath, jti, htm/htu, cnf.jkt</a:t>
            </a:r>
            <a:endParaRPr lang="en-US" sz="1300" dirty="0"/>
          </a:p>
          <a:p>
            <a:pPr marL="152400" indent="-152400">
              <a:spcAft>
                <a:spcPts val="600"/>
              </a:spcAft>
              <a:buSzPct val="100000"/>
              <a:buChar char="▸"/>
            </a:pPr>
            <a:r>
              <a:rPr lang="en-US" sz="1300" dirty="0">
                <a:solidFill>
                  <a:srgbClr val="F1F5F9"/>
                </a:solidFill>
                <a:latin typeface="Segoe UI" pitchFamily="34" charset="0"/>
                <a:ea typeface="Segoe UI" pitchFamily="34" charset="-122"/>
                <a:cs typeface="Segoe UI" pitchFamily="34" charset="-120"/>
              </a:rPr>
              <a:t>RFC 9901 · SD-JWT sd_hash key binding</a:t>
            </a:r>
            <a:endParaRPr lang="en-US" sz="1300" dirty="0"/>
          </a:p>
          <a:p>
            <a:pPr marL="152400" indent="-152400">
              <a:spcAft>
                <a:spcPts val="600"/>
              </a:spcAft>
              <a:buSzPct val="100000"/>
              <a:buChar char="▸"/>
            </a:pPr>
            <a:r>
              <a:rPr lang="en-US" sz="1300" dirty="0">
                <a:solidFill>
                  <a:srgbClr val="F1F5F9"/>
                </a:solidFill>
                <a:latin typeface="Segoe UI" pitchFamily="34" charset="0"/>
                <a:ea typeface="Segoe UI" pitchFamily="34" charset="-122"/>
                <a:cs typeface="Segoe UI" pitchFamily="34" charset="-120"/>
              </a:rPr>
              <a:t>RFC 7638 · JWK thumbprints</a:t>
            </a:r>
            <a:endParaRPr lang="en-US" sz="1300" dirty="0"/>
          </a:p>
          <a:p>
            <a:pPr marL="152400" indent="-152400">
              <a:spcAft>
                <a:spcPts val="600"/>
              </a:spcAft>
              <a:buSzPct val="100000"/>
              <a:buChar char="▸"/>
            </a:pPr>
            <a:r>
              <a:rPr lang="en-US" sz="1300" dirty="0">
                <a:solidFill>
                  <a:srgbClr val="F1F5F9"/>
                </a:solidFill>
                <a:latin typeface="Segoe UI" pitchFamily="34" charset="0"/>
                <a:ea typeface="Segoe UI" pitchFamily="34" charset="-122"/>
                <a:cs typeface="Segoe UI" pitchFamily="34" charset="-120"/>
              </a:rPr>
              <a:t>ISO 18013-5 · COSE_Sign1 + valueDigests</a:t>
            </a:r>
            <a:endParaRPr lang="en-US" sz="1300" dirty="0"/>
          </a:p>
        </p:txBody>
      </p:sp>
      <p:sp>
        <p:nvSpPr>
          <p:cNvPr id="26" name="Text 24"/>
          <p:cNvSpPr/>
          <p:nvPr/>
        </p:nvSpPr>
        <p:spPr>
          <a:xfrm>
            <a:off x="7863840" y="5257800"/>
            <a:ext cx="3749040" cy="1234440"/>
          </a:xfrm>
          <a:prstGeom prst="rect">
            <a:avLst/>
          </a:prstGeom>
          <a:noFill/>
          <a:ln/>
        </p:spPr>
        <p:txBody>
          <a:bodyPr wrap="square" lIns="0" tIns="0" rIns="0" bIns="0" rtlCol="0" anchor="ctr"/>
          <a:lstStyle/>
          <a:p>
            <a:pPr indent="0" marL="0">
              <a:lnSpc>
                <a:spcPct val="130000"/>
              </a:lnSpc>
              <a:buNone/>
            </a:pPr>
            <a:r>
              <a:rPr lang="en-US" sz="1300" dirty="0">
                <a:solidFill>
                  <a:srgbClr val="34D399"/>
                </a:solidFill>
                <a:latin typeface="Consolas" pitchFamily="34" charset="0"/>
                <a:ea typeface="Consolas" pitchFamily="34" charset="-122"/>
                <a:cs typeface="Consolas" pitchFamily="34" charset="-120"/>
              </a:rPr>
              <a:t>No stubbed verification.</a:t>
            </a:r>
            <a:endParaRPr lang="en-US" sz="1300" dirty="0"/>
          </a:p>
          <a:p>
            <a:pPr indent="0" marL="0">
              <a:lnSpc>
                <a:spcPct val="130000"/>
              </a:lnSpc>
              <a:buNone/>
            </a:pPr>
            <a:r>
              <a:rPr lang="en-US" sz="1300" dirty="0">
                <a:solidFill>
                  <a:srgbClr val="34D399"/>
                </a:solidFill>
                <a:latin typeface="Consolas" pitchFamily="34" charset="0"/>
                <a:ea typeface="Consolas" pitchFamily="34" charset="-122"/>
                <a:cs typeface="Consolas" pitchFamily="34" charset="-120"/>
              </a:rPr>
              <a:t>No string-matching shortcuts.</a:t>
            </a:r>
            <a:endParaRPr lang="en-US" sz="1300" dirty="0"/>
          </a:p>
          <a:p>
            <a:pPr indent="0" marL="0">
              <a:lnSpc>
                <a:spcPct val="130000"/>
              </a:lnSpc>
              <a:buNone/>
            </a:pPr>
            <a:r>
              <a:rPr lang="en-US" sz="1300" dirty="0">
                <a:solidFill>
                  <a:srgbClr val="34D399"/>
                </a:solidFill>
                <a:latin typeface="Consolas" pitchFamily="34" charset="0"/>
                <a:ea typeface="Consolas" pitchFamily="34" charset="-122"/>
                <a:cs typeface="Consolas" pitchFamily="34" charset="-120"/>
              </a:rPr>
              <a:t>Every signature is checked with real crypto.</a:t>
            </a:r>
            <a:endParaRPr lang="en-US" sz="1300" dirty="0"/>
          </a:p>
        </p:txBody>
      </p:sp>
      <p:sp>
        <p:nvSpPr>
          <p:cNvPr id="27" name="Text 25"/>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28" name="Text 26"/>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PROTOCOL INSPECTION</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Every byte, on screen, in real time</a:t>
            </a:r>
            <a:endParaRPr lang="en-US" sz="3800" dirty="0"/>
          </a:p>
        </p:txBody>
      </p:sp>
      <p:sp>
        <p:nvSpPr>
          <p:cNvPr id="4" name="Shape 2"/>
          <p:cNvSpPr/>
          <p:nvPr/>
        </p:nvSpPr>
        <p:spPr>
          <a:xfrm>
            <a:off x="548640" y="1783080"/>
            <a:ext cx="5120640" cy="768096"/>
          </a:xfrm>
          <a:prstGeom prst="roundRect">
            <a:avLst>
              <a:gd name="adj" fmla="val 9524"/>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49808" y="1892808"/>
            <a:ext cx="1600200" cy="548640"/>
          </a:xfrm>
          <a:prstGeom prst="rect">
            <a:avLst/>
          </a:prstGeom>
          <a:noFill/>
          <a:ln/>
        </p:spPr>
        <p:txBody>
          <a:bodyPr wrap="square" lIns="0" tIns="0" rIns="0" bIns="0" rtlCol="0" anchor="ctr"/>
          <a:lstStyle/>
          <a:p>
            <a:pPr indent="0" marL="0">
              <a:buNone/>
            </a:pPr>
            <a:r>
              <a:rPr lang="en-US" sz="1400" b="1" dirty="0">
                <a:solidFill>
                  <a:srgbClr val="22D3EE"/>
                </a:solidFill>
                <a:latin typeface="Consolas" pitchFamily="34" charset="0"/>
                <a:ea typeface="Consolas" pitchFamily="34" charset="-122"/>
                <a:cs typeface="Consolas" pitchFamily="34" charset="-120"/>
              </a:rPr>
              <a:t>vc+sd-jwt</a:t>
            </a:r>
            <a:endParaRPr lang="en-US" sz="1400" dirty="0"/>
          </a:p>
        </p:txBody>
      </p:sp>
      <p:sp>
        <p:nvSpPr>
          <p:cNvPr id="6" name="Text 4"/>
          <p:cNvSpPr/>
          <p:nvPr/>
        </p:nvSpPr>
        <p:spPr>
          <a:xfrm>
            <a:off x="2377440" y="1856232"/>
            <a:ext cx="3200400" cy="640080"/>
          </a:xfrm>
          <a:prstGeom prst="rect">
            <a:avLst/>
          </a:prstGeom>
          <a:noFill/>
          <a:ln/>
        </p:spPr>
        <p:txBody>
          <a:bodyPr wrap="square" lIns="0" tIns="0" rIns="0" bIns="0" rtlCol="0" anchor="ctr"/>
          <a:lstStyle/>
          <a:p>
            <a:pPr indent="0" marL="0">
              <a:lnSpc>
                <a:spcPct val="108000"/>
              </a:lnSpc>
              <a:buNone/>
            </a:pPr>
            <a:r>
              <a:rPr lang="en-US" sz="1100" dirty="0">
                <a:solidFill>
                  <a:srgbClr val="8DA2BD"/>
                </a:solidFill>
                <a:latin typeface="Segoe UI" pitchFamily="34" charset="0"/>
                <a:ea typeface="Segoe UI" pitchFamily="34" charset="-122"/>
                <a:cs typeface="Segoe UI" pitchFamily="34" charset="-120"/>
              </a:rPr>
              <a:t>IETF SD-JWT VC — 5 salted disclosures + 3 decoy digests, RFC 9901 kb+jwt</a:t>
            </a:r>
            <a:endParaRPr lang="en-US" sz="1100" dirty="0"/>
          </a:p>
        </p:txBody>
      </p:sp>
      <p:sp>
        <p:nvSpPr>
          <p:cNvPr id="7" name="Shape 5"/>
          <p:cNvSpPr/>
          <p:nvPr/>
        </p:nvSpPr>
        <p:spPr>
          <a:xfrm>
            <a:off x="548640" y="2679192"/>
            <a:ext cx="5120640" cy="768096"/>
          </a:xfrm>
          <a:prstGeom prst="roundRect">
            <a:avLst>
              <a:gd name="adj" fmla="val 9524"/>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749808" y="2788920"/>
            <a:ext cx="1600200" cy="548640"/>
          </a:xfrm>
          <a:prstGeom prst="rect">
            <a:avLst/>
          </a:prstGeom>
          <a:noFill/>
          <a:ln/>
        </p:spPr>
        <p:txBody>
          <a:bodyPr wrap="square" lIns="0" tIns="0" rIns="0" bIns="0" rtlCol="0" anchor="ctr"/>
          <a:lstStyle/>
          <a:p>
            <a:pPr indent="0" marL="0">
              <a:buNone/>
            </a:pPr>
            <a:r>
              <a:rPr lang="en-US" sz="1400" b="1" dirty="0">
                <a:solidFill>
                  <a:srgbClr val="22D3EE"/>
                </a:solidFill>
                <a:latin typeface="Consolas" pitchFamily="34" charset="0"/>
                <a:ea typeface="Consolas" pitchFamily="34" charset="-122"/>
                <a:cs typeface="Consolas" pitchFamily="34" charset="-120"/>
              </a:rPr>
              <a:t>dc+sd-jwt</a:t>
            </a:r>
            <a:endParaRPr lang="en-US" sz="1400" dirty="0"/>
          </a:p>
        </p:txBody>
      </p:sp>
      <p:sp>
        <p:nvSpPr>
          <p:cNvPr id="9" name="Text 7"/>
          <p:cNvSpPr/>
          <p:nvPr/>
        </p:nvSpPr>
        <p:spPr>
          <a:xfrm>
            <a:off x="2377440" y="2752344"/>
            <a:ext cx="3200400" cy="640080"/>
          </a:xfrm>
          <a:prstGeom prst="rect">
            <a:avLst/>
          </a:prstGeom>
          <a:noFill/>
          <a:ln/>
        </p:spPr>
        <p:txBody>
          <a:bodyPr wrap="square" lIns="0" tIns="0" rIns="0" bIns="0" rtlCol="0" anchor="ctr"/>
          <a:lstStyle/>
          <a:p>
            <a:pPr indent="0" marL="0">
              <a:lnSpc>
                <a:spcPct val="108000"/>
              </a:lnSpc>
              <a:buNone/>
            </a:pPr>
            <a:r>
              <a:rPr lang="en-US" sz="1100" dirty="0">
                <a:solidFill>
                  <a:srgbClr val="8DA2BD"/>
                </a:solidFill>
                <a:latin typeface="Segoe UI" pitchFamily="34" charset="0"/>
                <a:ea typeface="Segoe UI" pitchFamily="34" charset="-122"/>
                <a:cs typeface="Segoe UI" pitchFamily="34" charset="-120"/>
              </a:rPr>
              <a:t>Digital Credentials format — same engine, DC-style route</a:t>
            </a:r>
            <a:endParaRPr lang="en-US" sz="1100" dirty="0"/>
          </a:p>
        </p:txBody>
      </p:sp>
      <p:sp>
        <p:nvSpPr>
          <p:cNvPr id="10" name="Shape 8"/>
          <p:cNvSpPr/>
          <p:nvPr/>
        </p:nvSpPr>
        <p:spPr>
          <a:xfrm>
            <a:off x="548640" y="3575304"/>
            <a:ext cx="5120640" cy="768096"/>
          </a:xfrm>
          <a:prstGeom prst="roundRect">
            <a:avLst>
              <a:gd name="adj" fmla="val 9524"/>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749808" y="3685032"/>
            <a:ext cx="1600200" cy="548640"/>
          </a:xfrm>
          <a:prstGeom prst="rect">
            <a:avLst/>
          </a:prstGeom>
          <a:noFill/>
          <a:ln/>
        </p:spPr>
        <p:txBody>
          <a:bodyPr wrap="square" lIns="0" tIns="0" rIns="0" bIns="0" rtlCol="0" anchor="ctr"/>
          <a:lstStyle/>
          <a:p>
            <a:pPr indent="0" marL="0">
              <a:buNone/>
            </a:pPr>
            <a:r>
              <a:rPr lang="en-US" sz="1400" b="1" dirty="0">
                <a:solidFill>
                  <a:srgbClr val="22D3EE"/>
                </a:solidFill>
                <a:latin typeface="Consolas" pitchFamily="34" charset="0"/>
                <a:ea typeface="Consolas" pitchFamily="34" charset="-122"/>
                <a:cs typeface="Consolas" pitchFamily="34" charset="-120"/>
              </a:rPr>
              <a:t>ldp_vc</a:t>
            </a:r>
            <a:endParaRPr lang="en-US" sz="1400" dirty="0"/>
          </a:p>
        </p:txBody>
      </p:sp>
      <p:sp>
        <p:nvSpPr>
          <p:cNvPr id="12" name="Text 10"/>
          <p:cNvSpPr/>
          <p:nvPr/>
        </p:nvSpPr>
        <p:spPr>
          <a:xfrm>
            <a:off x="2377440" y="3648456"/>
            <a:ext cx="3200400" cy="640080"/>
          </a:xfrm>
          <a:prstGeom prst="rect">
            <a:avLst/>
          </a:prstGeom>
          <a:noFill/>
          <a:ln/>
        </p:spPr>
        <p:txBody>
          <a:bodyPr wrap="square" lIns="0" tIns="0" rIns="0" bIns="0" rtlCol="0" anchor="ctr"/>
          <a:lstStyle/>
          <a:p>
            <a:pPr indent="0" marL="0">
              <a:lnSpc>
                <a:spcPct val="108000"/>
              </a:lnSpc>
              <a:buNone/>
            </a:pPr>
            <a:r>
              <a:rPr lang="en-US" sz="1100" dirty="0">
                <a:solidFill>
                  <a:srgbClr val="8DA2BD"/>
                </a:solidFill>
                <a:latin typeface="Segoe UI" pitchFamily="34" charset="0"/>
                <a:ea typeface="Segoe UI" pitchFamily="34" charset="-122"/>
                <a:cs typeface="Segoe UI" pitchFamily="34" charset="-120"/>
              </a:rPr>
              <a:t>W3C VC JSON-LD — Ed25519Signature2020 proofs</a:t>
            </a:r>
            <a:endParaRPr lang="en-US" sz="1100" dirty="0"/>
          </a:p>
        </p:txBody>
      </p:sp>
      <p:sp>
        <p:nvSpPr>
          <p:cNvPr id="13" name="Shape 11"/>
          <p:cNvSpPr/>
          <p:nvPr/>
        </p:nvSpPr>
        <p:spPr>
          <a:xfrm>
            <a:off x="548640" y="4471416"/>
            <a:ext cx="5120640" cy="768096"/>
          </a:xfrm>
          <a:prstGeom prst="roundRect">
            <a:avLst>
              <a:gd name="adj" fmla="val 9524"/>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749808" y="4581144"/>
            <a:ext cx="1600200" cy="548640"/>
          </a:xfrm>
          <a:prstGeom prst="rect">
            <a:avLst/>
          </a:prstGeom>
          <a:noFill/>
          <a:ln/>
        </p:spPr>
        <p:txBody>
          <a:bodyPr wrap="square" lIns="0" tIns="0" rIns="0" bIns="0" rtlCol="0" anchor="ctr"/>
          <a:lstStyle/>
          <a:p>
            <a:pPr indent="0" marL="0">
              <a:buNone/>
            </a:pPr>
            <a:r>
              <a:rPr lang="en-US" sz="1400" b="1" dirty="0">
                <a:solidFill>
                  <a:srgbClr val="22D3EE"/>
                </a:solidFill>
                <a:latin typeface="Consolas" pitchFamily="34" charset="0"/>
                <a:ea typeface="Consolas" pitchFamily="34" charset="-122"/>
                <a:cs typeface="Consolas" pitchFamily="34" charset="-120"/>
              </a:rPr>
              <a:t>mso_mdoc</a:t>
            </a:r>
            <a:endParaRPr lang="en-US" sz="1400" dirty="0"/>
          </a:p>
        </p:txBody>
      </p:sp>
      <p:sp>
        <p:nvSpPr>
          <p:cNvPr id="15" name="Text 13"/>
          <p:cNvSpPr/>
          <p:nvPr/>
        </p:nvSpPr>
        <p:spPr>
          <a:xfrm>
            <a:off x="2377440" y="4544568"/>
            <a:ext cx="3200400" cy="640080"/>
          </a:xfrm>
          <a:prstGeom prst="rect">
            <a:avLst/>
          </a:prstGeom>
          <a:noFill/>
          <a:ln/>
        </p:spPr>
        <p:txBody>
          <a:bodyPr wrap="square" lIns="0" tIns="0" rIns="0" bIns="0" rtlCol="0" anchor="ctr"/>
          <a:lstStyle/>
          <a:p>
            <a:pPr indent="0" marL="0">
              <a:lnSpc>
                <a:spcPct val="108000"/>
              </a:lnSpc>
              <a:buNone/>
            </a:pPr>
            <a:r>
              <a:rPr lang="en-US" sz="1100" dirty="0">
                <a:solidFill>
                  <a:srgbClr val="8DA2BD"/>
                </a:solidFill>
                <a:latin typeface="Segoe UI" pitchFamily="34" charset="0"/>
                <a:ea typeface="Segoe UI" pitchFamily="34" charset="-122"/>
                <a:cs typeface="Segoe UI" pitchFamily="34" charset="-120"/>
              </a:rPr>
              <a:t>ISO 18013-5 — CBOR Tag 24, COSE_Sign1, per-attribute MSO digests</a:t>
            </a:r>
            <a:endParaRPr lang="en-US" sz="1100" dirty="0"/>
          </a:p>
        </p:txBody>
      </p:sp>
      <p:sp>
        <p:nvSpPr>
          <p:cNvPr id="16" name="Text 14"/>
          <p:cNvSpPr/>
          <p:nvPr/>
        </p:nvSpPr>
        <p:spPr>
          <a:xfrm>
            <a:off x="6172200" y="1783080"/>
            <a:ext cx="5486400" cy="1005840"/>
          </a:xfrm>
          <a:prstGeom prst="rect">
            <a:avLst/>
          </a:prstGeom>
          <a:noFill/>
          <a:ln/>
        </p:spPr>
        <p:txBody>
          <a:bodyPr wrap="square" lIns="0" tIns="0" rIns="0" bIns="0" rtlCol="0" anchor="ctr"/>
          <a:lstStyle/>
          <a:p>
            <a:pPr indent="0" marL="0">
              <a:lnSpc>
                <a:spcPct val="115000"/>
              </a:lnSpc>
              <a:buNone/>
            </a:pPr>
            <a:r>
              <a:rPr lang="en-US" sz="1350" b="1" dirty="0">
                <a:solidFill>
                  <a:srgbClr val="F1F5F9"/>
                </a:solidFill>
                <a:latin typeface="Segoe UI" pitchFamily="34" charset="0"/>
                <a:ea typeface="Segoe UI" pitchFamily="34" charset="-122"/>
                <a:cs typeface="Segoe UI" pitchFamily="34" charset="-120"/>
              </a:rPr>
              <a:t>Token anatomy — </a:t>
            </a:r>
            <a:pPr indent="0" marL="0">
              <a:lnSpc>
                <a:spcPct val="115000"/>
              </a:lnSpc>
              <a:buNone/>
            </a:pPr>
            <a:r>
              <a:rPr lang="en-US" sz="1350" dirty="0">
                <a:solidFill>
                  <a:srgbClr val="8DA2BD"/>
                </a:solidFill>
                <a:latin typeface="Segoe UI" pitchFamily="34" charset="0"/>
                <a:ea typeface="Segoe UI" pitchFamily="34" charset="-122"/>
                <a:cs typeface="Segoe UI" pitchFamily="34" charset="-120"/>
              </a:rPr>
              <a:t>color-coded header / claims / signature / disclosures / kb-jwt — with SHA-256 MATCH badges computed live in your browser against the issuer _sd array</a:t>
            </a:r>
            <a:endParaRPr lang="en-US" sz="1350" dirty="0"/>
          </a:p>
        </p:txBody>
      </p:sp>
      <p:sp>
        <p:nvSpPr>
          <p:cNvPr id="17" name="Text 15"/>
          <p:cNvSpPr/>
          <p:nvPr/>
        </p:nvSpPr>
        <p:spPr>
          <a:xfrm>
            <a:off x="6172200" y="2862072"/>
            <a:ext cx="5486400" cy="1005840"/>
          </a:xfrm>
          <a:prstGeom prst="rect">
            <a:avLst/>
          </a:prstGeom>
          <a:noFill/>
          <a:ln/>
        </p:spPr>
        <p:txBody>
          <a:bodyPr wrap="square" lIns="0" tIns="0" rIns="0" bIns="0" rtlCol="0" anchor="ctr"/>
          <a:lstStyle/>
          <a:p>
            <a:pPr indent="0" marL="0">
              <a:lnSpc>
                <a:spcPct val="115000"/>
              </a:lnSpc>
              <a:buNone/>
            </a:pPr>
            <a:r>
              <a:rPr lang="en-US" sz="1350" b="1" dirty="0">
                <a:solidFill>
                  <a:srgbClr val="F1F5F9"/>
                </a:solidFill>
                <a:latin typeface="Segoe UI" pitchFamily="34" charset="0"/>
                <a:ea typeface="Segoe UI" pitchFamily="34" charset="-122"/>
                <a:cs typeface="Segoe UI" pitchFamily="34" charset="-120"/>
              </a:rPr>
              <a:t>Live telemetry — </a:t>
            </a:r>
            <a:pPr indent="0" marL="0">
              <a:lnSpc>
                <a:spcPct val="115000"/>
              </a:lnSpc>
              <a:buNone/>
            </a:pPr>
            <a:r>
              <a:rPr lang="en-US" sz="1350" dirty="0">
                <a:solidFill>
                  <a:srgbClr val="8DA2BD"/>
                </a:solidFill>
                <a:latin typeface="Segoe UI" pitchFamily="34" charset="0"/>
                <a:ea typeface="Segoe UI" pitchFamily="34" charset="-122"/>
                <a:cs typeface="Segoe UI" pitchFamily="34" charset="-120"/>
              </a:rPr>
              <a:t>WebSocket stream of every hop with millisecond latency; origin-guarded (CSWSH 403); PII redacted</a:t>
            </a:r>
            <a:endParaRPr lang="en-US" sz="1350" dirty="0"/>
          </a:p>
        </p:txBody>
      </p:sp>
      <p:sp>
        <p:nvSpPr>
          <p:cNvPr id="18" name="Text 16"/>
          <p:cNvSpPr/>
          <p:nvPr/>
        </p:nvSpPr>
        <p:spPr>
          <a:xfrm>
            <a:off x="6172200" y="3941064"/>
            <a:ext cx="5486400" cy="1005840"/>
          </a:xfrm>
          <a:prstGeom prst="rect">
            <a:avLst/>
          </a:prstGeom>
          <a:noFill/>
          <a:ln/>
        </p:spPr>
        <p:txBody>
          <a:bodyPr wrap="square" lIns="0" tIns="0" rIns="0" bIns="0" rtlCol="0" anchor="ctr"/>
          <a:lstStyle/>
          <a:p>
            <a:pPr indent="0" marL="0">
              <a:lnSpc>
                <a:spcPct val="115000"/>
              </a:lnSpc>
              <a:buNone/>
            </a:pPr>
            <a:r>
              <a:rPr lang="en-US" sz="1350" b="1" dirty="0">
                <a:solidFill>
                  <a:srgbClr val="F1F5F9"/>
                </a:solidFill>
                <a:latin typeface="Segoe UI" pitchFamily="34" charset="0"/>
                <a:ea typeface="Segoe UI" pitchFamily="34" charset="-122"/>
                <a:cs typeface="Segoe UI" pitchFamily="34" charset="-120"/>
              </a:rPr>
              <a:t>Mermaid sequence — </a:t>
            </a:r>
            <a:pPr indent="0" marL="0">
              <a:lnSpc>
                <a:spcPct val="115000"/>
              </a:lnSpc>
              <a:buNone/>
            </a:pPr>
            <a:r>
              <a:rPr lang="en-US" sz="1350" dirty="0">
                <a:solidFill>
                  <a:srgbClr val="8DA2BD"/>
                </a:solidFill>
                <a:latin typeface="Segoe UI" pitchFamily="34" charset="0"/>
                <a:ea typeface="Segoe UI" pitchFamily="34" charset="-122"/>
                <a:cs typeface="Segoe UI" pitchFamily="34" charset="-120"/>
              </a:rPr>
              <a:t>diagram generated from the actual selected topology — re-renders when you pick an attack vector</a:t>
            </a:r>
            <a:endParaRPr lang="en-US" sz="1350" dirty="0"/>
          </a:p>
        </p:txBody>
      </p:sp>
      <p:sp>
        <p:nvSpPr>
          <p:cNvPr id="19" name="Text 17"/>
          <p:cNvSpPr/>
          <p:nvPr/>
        </p:nvSpPr>
        <p:spPr>
          <a:xfrm>
            <a:off x="6172200" y="5020056"/>
            <a:ext cx="5486400" cy="1005840"/>
          </a:xfrm>
          <a:prstGeom prst="rect">
            <a:avLst/>
          </a:prstGeom>
          <a:noFill/>
          <a:ln/>
        </p:spPr>
        <p:txBody>
          <a:bodyPr wrap="square" lIns="0" tIns="0" rIns="0" bIns="0" rtlCol="0" anchor="ctr"/>
          <a:lstStyle/>
          <a:p>
            <a:pPr indent="0" marL="0">
              <a:lnSpc>
                <a:spcPct val="115000"/>
              </a:lnSpc>
              <a:buNone/>
            </a:pPr>
            <a:r>
              <a:rPr lang="en-US" sz="1350" b="1" dirty="0">
                <a:solidFill>
                  <a:srgbClr val="F1F5F9"/>
                </a:solidFill>
                <a:latin typeface="Segoe UI" pitchFamily="34" charset="0"/>
                <a:ea typeface="Segoe UI" pitchFamily="34" charset="-122"/>
                <a:cs typeface="Segoe UI" pitchFamily="34" charset="-120"/>
              </a:rPr>
              <a:t>Privacy slider — </a:t>
            </a:r>
            <a:pPr indent="0" marL="0">
              <a:lnSpc>
                <a:spcPct val="115000"/>
              </a:lnSpc>
              <a:buNone/>
            </a:pPr>
            <a:r>
              <a:rPr lang="en-US" sz="1350" dirty="0">
                <a:solidFill>
                  <a:srgbClr val="8DA2BD"/>
                </a:solidFill>
                <a:latin typeface="Segoe UI" pitchFamily="34" charset="0"/>
                <a:ea typeface="Segoe UI" pitchFamily="34" charset="-122"/>
                <a:cs typeface="Segoe UI" pitchFamily="34" charset="-120"/>
              </a:rPr>
              <a:t>toggle disclosed claims; QR density + privacy score react; the verifier enforces what it requested (DIF PE 2.0)</a:t>
            </a:r>
            <a:endParaRPr lang="en-US" sz="1350" dirty="0"/>
          </a:p>
        </p:txBody>
      </p:sp>
      <p:sp>
        <p:nvSpPr>
          <p:cNvPr id="20" name="Text 18"/>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21" name="Text 19"/>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FB7185"/>
                </a:solidFill>
                <a:latin typeface="Consolas" pitchFamily="34" charset="0"/>
                <a:ea typeface="Consolas" pitchFamily="34" charset="-122"/>
                <a:cs typeface="Consolas" pitchFamily="34" charset="-120"/>
              </a:rPr>
              <a:t>ADVERSARIAL ENGINE</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8 chaos vectors — every attack must fail closed</a:t>
            </a:r>
            <a:endParaRPr lang="en-US" sz="3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321040" cy="914400"/>
        </p:xfrm>
        <a:graphic>
          <a:graphicData uri="http://schemas.openxmlformats.org/drawingml/2006/table">
            <a:tbl>
              <a:tblPr/>
              <a:tblGrid>
                <a:gridCol w="914400"/>
                <a:gridCol w="3657600"/>
                <a:gridCol w="3749040"/>
              </a:tblGrid>
              <a:tr h="402336">
                <a:tc>
                  <a:txBody>
                    <a:bodyPr/>
                    <a:lstStyle/>
                    <a:p>
                      <a:pPr indent="0" marL="0">
                        <a:buNone/>
                      </a:pPr>
                      <a:r>
                        <a:rPr lang="en-US" sz="1050" b="1" dirty="0">
                          <a:solidFill>
                            <a:srgbClr val="22D3EE"/>
                          </a:solidFill>
                          <a:latin typeface="Consolas" pitchFamily="34" charset="0"/>
                          <a:ea typeface="Consolas" pitchFamily="34" charset="-122"/>
                          <a:cs typeface="Consolas" pitchFamily="34" charset="-120"/>
                        </a:rPr>
                        <a:t>Vector</a:t>
                      </a:r>
                      <a:endParaRPr lang="en-US" sz="1050" dirty="0">
                        <a:latin typeface="Consolas" charset="0"/>
                        <a:ea typeface="Consolas" charset="0"/>
                        <a:cs typeface="Consolas" charset="0"/>
                      </a:endParaRPr>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b="1" dirty="0">
                          <a:solidFill>
                            <a:srgbClr val="22D3EE"/>
                          </a:solidFill>
                          <a:latin typeface="Consolas" pitchFamily="34" charset="0"/>
                          <a:ea typeface="Consolas" pitchFamily="34" charset="-122"/>
                          <a:cs typeface="Consolas" pitchFamily="34" charset="-120"/>
                        </a:rPr>
                        <a:t>Attack</a:t>
                      </a:r>
                      <a:endParaRPr lang="en-US" sz="1050" dirty="0">
                        <a:latin typeface="Consolas" charset="0"/>
                        <a:ea typeface="Consolas" charset="0"/>
                        <a:cs typeface="Consolas" charset="0"/>
                      </a:endParaRPr>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b="1" dirty="0">
                          <a:solidFill>
                            <a:srgbClr val="22D3EE"/>
                          </a:solidFill>
                          <a:latin typeface="Consolas" pitchFamily="34" charset="0"/>
                          <a:ea typeface="Consolas" pitchFamily="34" charset="-122"/>
                          <a:cs typeface="Consolas" pitchFamily="34" charset="-120"/>
                        </a:rPr>
                        <a:t>Required rejection</a:t>
                      </a:r>
                      <a:endParaRPr lang="en-US" sz="1050" dirty="0">
                        <a:latin typeface="Consolas" charset="0"/>
                        <a:ea typeface="Consolas" charset="0"/>
                        <a:cs typeface="Consolas" charset="0"/>
                      </a:endParaRPr>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VEC-01</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Issuer signature bit-flip (real 1-bit crypto corruption)</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ERR_INVALID_ES256_SIGNATURE</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VEC-02</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kb+jwt iat backdated beyond ±300s skew</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ERR_KB_JWT_IAT_OUTSIDE_SKEW_WINDOW</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VEC-03</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Cut-and-paste sd_hash desync</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ERR_KB_SD_HASH_MISMATCH</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VEC-04</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Unbound disclosure injection (digest ∉ issuer _sd)</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ERR_UNBOUND_DISCLOSURE_DIGEST</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VEC-05</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Expired credential presentation</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ERR_CREDENTIAL_EXPIRED</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VEC-06</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Recursive _sd nesting loop</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ERR_RECURSIVE_SD_NESTING_LIMIT_EXCEEDED</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VEC-07</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INJIVER-1131 credential type confusion</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ERR_INJIVER_1131_WRONG_CREDENTIAL_TYPE</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r h="402336">
                <a:tc>
                  <a:txBody>
                    <a:bodyPr/>
                    <a:lstStyle/>
                    <a:p>
                      <a:pPr indent="0" marL="0">
                        <a:buNone/>
                      </a:pPr>
                      <a:r>
                        <a:rPr lang="en-US" sz="1050" dirty="0">
                          <a:solidFill>
                            <a:srgbClr val="F1F5F9"/>
                          </a:solidFill>
                        </a:rPr>
                        <a:t>VEC-08</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ASN.1 DER signature where P1363 is mandated</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c>
                  <a:txBody>
                    <a:bodyPr/>
                    <a:lstStyle/>
                    <a:p>
                      <a:pPr indent="0" marL="0">
                        <a:buNone/>
                      </a:pPr>
                      <a:r>
                        <a:rPr lang="en-US" sz="1050" dirty="0">
                          <a:solidFill>
                            <a:srgbClr val="F1F5F9"/>
                          </a:solidFill>
                        </a:rPr>
                        <a:t>ERR_NON_P1363_SIGNATURE_LENGTH</a:t>
                      </a:r>
                      <a:endParaRPr lang="en-US" sz="1050" dirty="0"/>
                    </a:p>
                  </a:txBody>
                  <a:tcPr marL="73152" marR="73152" marT="73152" marB="73152" anchor="ctr">
                    <a:lnL w="6350" cap="flat" cmpd="sng" algn="ctr">
                      <a:solidFill>
                        <a:srgbClr val="22304E"/>
                      </a:solidFill>
                      <a:prstDash val="solid"/>
                      <a:round/>
                      <a:headEnd type="none" w="med" len="med"/>
                      <a:tailEnd type="none" w="med" len="med"/>
                    </a:lnL>
                    <a:lnR w="6350" cap="flat" cmpd="sng" algn="ctr">
                      <a:solidFill>
                        <a:srgbClr val="22304E"/>
                      </a:solidFill>
                      <a:prstDash val="solid"/>
                      <a:round/>
                      <a:headEnd type="none" w="med" len="med"/>
                      <a:tailEnd type="none" w="med" len="med"/>
                    </a:lnR>
                    <a:lnT w="6350" cap="flat" cmpd="sng" algn="ctr">
                      <a:solidFill>
                        <a:srgbClr val="22304E"/>
                      </a:solidFill>
                      <a:prstDash val="solid"/>
                      <a:round/>
                      <a:headEnd type="none" w="med" len="med"/>
                      <a:tailEnd type="none" w="med" len="med"/>
                    </a:lnT>
                    <a:lnB w="6350" cap="flat" cmpd="sng" algn="ctr">
                      <a:solidFill>
                        <a:srgbClr val="22304E"/>
                      </a:solidFill>
                      <a:prstDash val="solid"/>
                      <a:round/>
                      <a:headEnd type="none" w="med" len="med"/>
                      <a:tailEnd type="none" w="med" len="med"/>
                    </a:lnB>
                    <a:solidFill>
                      <a:srgbClr val="121B2F"/>
                    </a:solidFill>
                  </a:tcPr>
                </a:tc>
              </a:tr>
            </a:tbl>
          </a:graphicData>
        </a:graphic>
      </p:graphicFrame>
      <p:sp>
        <p:nvSpPr>
          <p:cNvPr id="5" name="Shape 2"/>
          <p:cNvSpPr/>
          <p:nvPr/>
        </p:nvSpPr>
        <p:spPr>
          <a:xfrm>
            <a:off x="9189720" y="1783080"/>
            <a:ext cx="2450592" cy="3749040"/>
          </a:xfrm>
          <a:prstGeom prst="roundRect">
            <a:avLst>
              <a:gd name="adj" fmla="val 2985"/>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6" name="Text 3"/>
          <p:cNvSpPr/>
          <p:nvPr/>
        </p:nvSpPr>
        <p:spPr>
          <a:xfrm>
            <a:off x="9418320" y="2011680"/>
            <a:ext cx="2011680" cy="640080"/>
          </a:xfrm>
          <a:prstGeom prst="rect">
            <a:avLst/>
          </a:prstGeom>
          <a:noFill/>
          <a:ln/>
        </p:spPr>
        <p:txBody>
          <a:bodyPr wrap="square" lIns="0" tIns="0" rIns="0" bIns="0" rtlCol="0" anchor="ctr"/>
          <a:lstStyle/>
          <a:p>
            <a:pPr indent="0" marL="0">
              <a:buNone/>
            </a:pPr>
            <a:r>
              <a:rPr lang="en-US" sz="4000" b="1" dirty="0">
                <a:solidFill>
                  <a:srgbClr val="FB7185"/>
                </a:solidFill>
                <a:latin typeface="Consolas" pitchFamily="34" charset="0"/>
                <a:ea typeface="Consolas" pitchFamily="34" charset="-122"/>
                <a:cs typeface="Consolas" pitchFamily="34" charset="-120"/>
              </a:rPr>
              <a:t>+10</a:t>
            </a:r>
            <a:endParaRPr lang="en-US" sz="4000" dirty="0"/>
          </a:p>
        </p:txBody>
      </p:sp>
      <p:sp>
        <p:nvSpPr>
          <p:cNvPr id="7" name="Text 4"/>
          <p:cNvSpPr/>
          <p:nvPr/>
        </p:nvSpPr>
        <p:spPr>
          <a:xfrm>
            <a:off x="9418320" y="2697480"/>
            <a:ext cx="2011680" cy="868680"/>
          </a:xfrm>
          <a:prstGeom prst="rect">
            <a:avLst/>
          </a:prstGeom>
          <a:noFill/>
          <a:ln/>
        </p:spPr>
        <p:txBody>
          <a:bodyPr wrap="square" lIns="0" tIns="0" rIns="0" bIns="0" rtlCol="0" anchor="ctr"/>
          <a:lstStyle/>
          <a:p>
            <a:pPr indent="0" marL="0">
              <a:lnSpc>
                <a:spcPct val="115000"/>
              </a:lnSpc>
              <a:buNone/>
            </a:pPr>
            <a:r>
              <a:rPr lang="en-US" sz="1250" dirty="0">
                <a:solidFill>
                  <a:srgbClr val="F1F5F9"/>
                </a:solidFill>
                <a:latin typeface="Segoe UI" pitchFamily="34" charset="0"/>
                <a:ea typeface="Segoe UI" pitchFamily="34" charset="-122"/>
                <a:cs typeface="Segoe UI" pitchFamily="34" charset="-120"/>
              </a:rPr>
              <a:t>independent adversarial probes driven with attacker-held keys</a:t>
            </a:r>
            <a:endParaRPr lang="en-US" sz="1250" dirty="0"/>
          </a:p>
        </p:txBody>
      </p:sp>
      <p:sp>
        <p:nvSpPr>
          <p:cNvPr id="8" name="Text 5"/>
          <p:cNvSpPr/>
          <p:nvPr/>
        </p:nvSpPr>
        <p:spPr>
          <a:xfrm>
            <a:off x="9418320" y="3657600"/>
            <a:ext cx="2011680" cy="1737360"/>
          </a:xfrm>
          <a:prstGeom prst="rect">
            <a:avLst/>
          </a:prstGeom>
          <a:noFill/>
          <a:ln/>
        </p:spPr>
        <p:txBody>
          <a:bodyPr wrap="square" lIns="0" tIns="0" rIns="0" bIns="0" rtlCol="0" anchor="ctr"/>
          <a:lstStyle/>
          <a:p>
            <a:pPr indent="0" marL="0">
              <a:lnSpc>
                <a:spcPct val="120000"/>
              </a:lnSpc>
              <a:buNone/>
            </a:pPr>
            <a:r>
              <a:rPr lang="en-US" sz="1050" dirty="0">
                <a:solidFill>
                  <a:srgbClr val="8DA2BD"/>
                </a:solidFill>
                <a:latin typeface="Segoe UI" pitchFamily="34" charset="0"/>
                <a:ea typeface="Segoe UI" pitchFamily="34" charset="-122"/>
                <a:cs typeface="Segoe UI" pitchFamily="34" charset="-120"/>
              </a:rPr>
              <a:t>forged tokens · stripped sd_hash · foreign audience · withheld claims · byte-flipped Ed25519 proofs · replayed nonces · rogue issuers · DPoP htm attacks</a:t>
            </a:r>
            <a:endParaRPr lang="en-US" sz="1050" dirty="0"/>
          </a:p>
        </p:txBody>
      </p:sp>
      <p:sp>
        <p:nvSpPr>
          <p:cNvPr id="9" name="Text 6"/>
          <p:cNvSpPr/>
          <p:nvPr/>
        </p:nvSpPr>
        <p:spPr>
          <a:xfrm>
            <a:off x="548640" y="5897880"/>
            <a:ext cx="10515600" cy="365760"/>
          </a:xfrm>
          <a:prstGeom prst="rect">
            <a:avLst/>
          </a:prstGeom>
          <a:noFill/>
          <a:ln/>
        </p:spPr>
        <p:txBody>
          <a:bodyPr wrap="square" lIns="0" tIns="0" rIns="0" bIns="0" rtlCol="0" anchor="ctr"/>
          <a:lstStyle/>
          <a:p>
            <a:pPr indent="0" marL="0">
              <a:buNone/>
            </a:pPr>
            <a:r>
              <a:rPr lang="en-US" sz="1250" dirty="0">
                <a:solidFill>
                  <a:srgbClr val="34D399"/>
                </a:solidFill>
                <a:latin typeface="Consolas" pitchFamily="34" charset="0"/>
                <a:ea typeface="Consolas" pitchFamily="34" charset="-122"/>
                <a:cs typeface="Consolas" pitchFamily="34" charset="-120"/>
              </a:rPr>
              <a:t>A vector passes only when the verifier returns HTTP 400 with its exact error code — any other outcome fails the suite.</a:t>
            </a:r>
            <a:endParaRPr lang="en-US" sz="1250" dirty="0"/>
          </a:p>
        </p:txBody>
      </p:sp>
      <p:sp>
        <p:nvSpPr>
          <p:cNvPr id="10" name="Text 7"/>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11" name="Text 8"/>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FBBF24"/>
                </a:solidFill>
                <a:latin typeface="Consolas" pitchFamily="34" charset="0"/>
                <a:ea typeface="Consolas" pitchFamily="34" charset="-122"/>
                <a:cs typeface="Consolas" pitchFamily="34" charset="-120"/>
              </a:rPr>
              <a:t>ENGINEERING INTEGRITY</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We did not trust our own first audit</a:t>
            </a:r>
            <a:endParaRPr lang="en-US" sz="3800" dirty="0"/>
          </a:p>
        </p:txBody>
      </p:sp>
      <p:sp>
        <p:nvSpPr>
          <p:cNvPr id="4" name="Text 2"/>
          <p:cNvSpPr/>
          <p:nvPr/>
        </p:nvSpPr>
        <p:spPr>
          <a:xfrm>
            <a:off x="548640" y="1481328"/>
            <a:ext cx="11064240" cy="640080"/>
          </a:xfrm>
          <a:prstGeom prst="rect">
            <a:avLst/>
          </a:prstGeom>
          <a:noFill/>
          <a:ln/>
        </p:spPr>
        <p:txBody>
          <a:bodyPr wrap="square" lIns="0" tIns="0" rIns="0" bIns="0" rtlCol="0" anchor="ctr"/>
          <a:lstStyle/>
          <a:p>
            <a:pPr indent="0" marL="0">
              <a:lnSpc>
                <a:spcPct val="115000"/>
              </a:lnSpc>
              <a:buNone/>
            </a:pPr>
            <a:r>
              <a:rPr lang="en-US" sz="1550" dirty="0">
                <a:solidFill>
                  <a:srgbClr val="8DA2BD"/>
                </a:solidFill>
                <a:latin typeface="Segoe UI" pitchFamily="34" charset="0"/>
                <a:ea typeface="Segoe UI" pitchFamily="34" charset="-122"/>
                <a:cs typeface="Segoe UI" pitchFamily="34" charset="-120"/>
              </a:rPr>
              <a:t>An internal report once claimed “100% everywhere.” We discarded it, re-derived every claim from live execution, and attacked the system with an auditor-written probe suite using attacker-held keys.</a:t>
            </a:r>
            <a:endParaRPr lang="en-US" sz="1550" dirty="0"/>
          </a:p>
        </p:txBody>
      </p:sp>
      <p:graphicFrame>
        <p:nvGraphicFramePr>
          <p:cNvPr id="5" name="Chart 0" descr=""/>
          <p:cNvGraphicFramePr/>
          <p:nvPr/>
        </p:nvGraphicFramePr>
        <p:xfrm>
          <a:off x="548640" y="2423160"/>
          <a:ext cx="484632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852160" y="2423160"/>
            <a:ext cx="5760720" cy="822960"/>
          </a:xfrm>
          <a:prstGeom prst="rect">
            <a:avLst/>
          </a:prstGeom>
          <a:noFill/>
          <a:ln/>
        </p:spPr>
        <p:txBody>
          <a:bodyPr wrap="square" lIns="0" tIns="0" rIns="0" bIns="0" rtlCol="0" anchor="ctr"/>
          <a:lstStyle/>
          <a:p>
            <a:pPr indent="0" marL="0">
              <a:lnSpc>
                <a:spcPct val="110000"/>
              </a:lnSpc>
              <a:buNone/>
            </a:pPr>
            <a:r>
              <a:rPr lang="en-US" sz="1350" b="1" dirty="0">
                <a:solidFill>
                  <a:srgbClr val="F1F5F9"/>
                </a:solidFill>
                <a:latin typeface="Segoe UI" pitchFamily="34" charset="0"/>
                <a:ea typeface="Segoe UI" pitchFamily="34" charset="-122"/>
                <a:cs typeface="Segoe UI" pitchFamily="34" charset="-120"/>
              </a:rPr>
              <a:t>7 live-exploited vulnerabilities found</a:t>
            </a:r>
            <a:endParaRPr lang="en-US" sz="1350" dirty="0"/>
          </a:p>
          <a:p>
            <a:pPr indent="0" marL="0">
              <a:lnSpc>
                <a:spcPct val="110000"/>
              </a:lnSpc>
              <a:buNone/>
            </a:pPr>
            <a:r>
              <a:rPr lang="en-US" sz="1150" dirty="0">
                <a:solidFill>
                  <a:srgbClr val="8DA2BD"/>
                </a:solidFill>
                <a:latin typeface="Segoe UI" pitchFamily="34" charset="0"/>
                <a:ea typeface="Segoe UI" pitchFamily="34" charset="-122"/>
                <a:cs typeface="Segoe UI" pitchFamily="34" charset="-120"/>
              </a:rPr>
              <a:t>forged access tokens issued credentials; kb+jwt without sd_hash or with a foreign audience verified; zero-claim presentations passed; PII persisted unredacted</a:t>
            </a:r>
            <a:endParaRPr lang="en-US" sz="1350" dirty="0"/>
          </a:p>
        </p:txBody>
      </p:sp>
      <p:sp>
        <p:nvSpPr>
          <p:cNvPr id="7" name="Text 4"/>
          <p:cNvSpPr/>
          <p:nvPr/>
        </p:nvSpPr>
        <p:spPr>
          <a:xfrm>
            <a:off x="5852160" y="3264408"/>
            <a:ext cx="5760720" cy="822960"/>
          </a:xfrm>
          <a:prstGeom prst="rect">
            <a:avLst/>
          </a:prstGeom>
          <a:noFill/>
          <a:ln/>
        </p:spPr>
        <p:txBody>
          <a:bodyPr wrap="square" lIns="0" tIns="0" rIns="0" bIns="0" rtlCol="0" anchor="ctr"/>
          <a:lstStyle/>
          <a:p>
            <a:pPr indent="0" marL="0">
              <a:lnSpc>
                <a:spcPct val="110000"/>
              </a:lnSpc>
              <a:buNone/>
            </a:pPr>
            <a:r>
              <a:rPr lang="en-US" sz="1350" b="1" dirty="0">
                <a:solidFill>
                  <a:srgbClr val="F1F5F9"/>
                </a:solidFill>
                <a:latin typeface="Segoe UI" pitchFamily="34" charset="0"/>
                <a:ea typeface="Segoe UI" pitchFamily="34" charset="-122"/>
                <a:cs typeface="Segoe UI" pitchFamily="34" charset="-120"/>
              </a:rPr>
              <a:t>Every defect fixed &amp; locked</a:t>
            </a:r>
            <a:endParaRPr lang="en-US" sz="1350" dirty="0"/>
          </a:p>
          <a:p>
            <a:pPr indent="0" marL="0">
              <a:lnSpc>
                <a:spcPct val="110000"/>
              </a:lnSpc>
              <a:buNone/>
            </a:pPr>
            <a:r>
              <a:rPr lang="en-US" sz="1150" dirty="0">
                <a:solidFill>
                  <a:srgbClr val="8DA2BD"/>
                </a:solidFill>
                <a:latin typeface="Segoe UI" pitchFamily="34" charset="0"/>
                <a:ea typeface="Segoe UI" pitchFamily="34" charset="-122"/>
                <a:cs typeface="Segoe UI" pitchFamily="34" charset="-120"/>
              </a:rPr>
              <a:t>each fix is pinned by the exact probe that originally broke it — the suite is now a permanent regression gate in CI</a:t>
            </a:r>
            <a:endParaRPr lang="en-US" sz="1350" dirty="0"/>
          </a:p>
        </p:txBody>
      </p:sp>
      <p:sp>
        <p:nvSpPr>
          <p:cNvPr id="8" name="Text 5"/>
          <p:cNvSpPr/>
          <p:nvPr/>
        </p:nvSpPr>
        <p:spPr>
          <a:xfrm>
            <a:off x="5852160" y="4105656"/>
            <a:ext cx="5760720" cy="822960"/>
          </a:xfrm>
          <a:prstGeom prst="rect">
            <a:avLst/>
          </a:prstGeom>
          <a:noFill/>
          <a:ln/>
        </p:spPr>
        <p:txBody>
          <a:bodyPr wrap="square" lIns="0" tIns="0" rIns="0" bIns="0" rtlCol="0" anchor="ctr"/>
          <a:lstStyle/>
          <a:p>
            <a:pPr indent="0" marL="0">
              <a:lnSpc>
                <a:spcPct val="110000"/>
              </a:lnSpc>
              <a:buNone/>
            </a:pPr>
            <a:r>
              <a:rPr lang="en-US" sz="1350" b="1" dirty="0">
                <a:solidFill>
                  <a:srgbClr val="F1F5F9"/>
                </a:solidFill>
                <a:latin typeface="Segoe UI" pitchFamily="34" charset="0"/>
                <a:ea typeface="Segoe UI" pitchFamily="34" charset="-122"/>
                <a:cs typeface="Segoe UI" pitchFamily="34" charset="-120"/>
              </a:rPr>
              <a:t>Honesty applied to the UI itself</a:t>
            </a:r>
            <a:endParaRPr lang="en-US" sz="1350" dirty="0"/>
          </a:p>
          <a:p>
            <a:pPr indent="0" marL="0">
              <a:lnSpc>
                <a:spcPct val="110000"/>
              </a:lnSpc>
              <a:buNone/>
            </a:pPr>
            <a:r>
              <a:rPr lang="en-US" sz="1150" dirty="0">
                <a:solidFill>
                  <a:srgbClr val="8DA2BD"/>
                </a:solidFill>
                <a:latin typeface="Segoe UI" pitchFamily="34" charset="0"/>
                <a:ea typeface="Segoe UI" pitchFamily="34" charset="-122"/>
                <a:cs typeface="Segoe UI" pitchFamily="34" charset="-120"/>
              </a:rPr>
              <a:t>the scorecard no longer hardcodes “100%”; anatomy badges compute real SHA-256 digests; everything simulated is labeled “Simulated”</a:t>
            </a:r>
            <a:endParaRPr lang="en-US" sz="1350" dirty="0"/>
          </a:p>
        </p:txBody>
      </p:sp>
      <p:sp>
        <p:nvSpPr>
          <p:cNvPr id="9" name="Text 6"/>
          <p:cNvSpPr/>
          <p:nvPr/>
        </p:nvSpPr>
        <p:spPr>
          <a:xfrm>
            <a:off x="5852160" y="4946904"/>
            <a:ext cx="5760720" cy="822960"/>
          </a:xfrm>
          <a:prstGeom prst="rect">
            <a:avLst/>
          </a:prstGeom>
          <a:noFill/>
          <a:ln/>
        </p:spPr>
        <p:txBody>
          <a:bodyPr wrap="square" lIns="0" tIns="0" rIns="0" bIns="0" rtlCol="0" anchor="ctr"/>
          <a:lstStyle/>
          <a:p>
            <a:pPr indent="0" marL="0">
              <a:lnSpc>
                <a:spcPct val="110000"/>
              </a:lnSpc>
              <a:buNone/>
            </a:pPr>
            <a:r>
              <a:rPr lang="en-US" sz="1350" b="1" dirty="0">
                <a:solidFill>
                  <a:srgbClr val="F1F5F9"/>
                </a:solidFill>
                <a:latin typeface="Segoe UI" pitchFamily="34" charset="0"/>
                <a:ea typeface="Segoe UI" pitchFamily="34" charset="-122"/>
                <a:cs typeface="Segoe UI" pitchFamily="34" charset="-120"/>
              </a:rPr>
              <a:t>Full evidence ledger ships in the repo</a:t>
            </a:r>
            <a:endParaRPr lang="en-US" sz="1350" dirty="0"/>
          </a:p>
          <a:p>
            <a:pPr indent="0" marL="0">
              <a:lnSpc>
                <a:spcPct val="110000"/>
              </a:lnSpc>
              <a:buNone/>
            </a:pPr>
            <a:r>
              <a:rPr lang="en-US" sz="1150" dirty="0">
                <a:solidFill>
                  <a:srgbClr val="8DA2BD"/>
                </a:solidFill>
                <a:latin typeface="Segoe UI" pitchFamily="34" charset="0"/>
                <a:ea typeface="Segoe UI" pitchFamily="34" charset="-122"/>
                <a:cs typeface="Segoe UI" pitchFamily="34" charset="-120"/>
              </a:rPr>
              <a:t>AUDIT_REPORT.md — defect register with IDs, root causes, fixes and tests; docs/verification-matrix.md — requirement-to-test traceability</a:t>
            </a:r>
            <a:endParaRPr lang="en-US" sz="1350" dirty="0"/>
          </a:p>
        </p:txBody>
      </p:sp>
      <p:sp>
        <p:nvSpPr>
          <p:cNvPr id="10" name="Text 7"/>
          <p:cNvSpPr/>
          <p:nvPr/>
        </p:nvSpPr>
        <p:spPr>
          <a:xfrm>
            <a:off x="548640" y="5897880"/>
            <a:ext cx="10515600" cy="365760"/>
          </a:xfrm>
          <a:prstGeom prst="rect">
            <a:avLst/>
          </a:prstGeom>
          <a:noFill/>
          <a:ln/>
        </p:spPr>
        <p:txBody>
          <a:bodyPr wrap="square" lIns="0" tIns="0" rIns="0" bIns="0" rtlCol="0" anchor="ctr"/>
          <a:lstStyle/>
          <a:p>
            <a:pPr indent="0" marL="0">
              <a:buNone/>
            </a:pPr>
            <a:r>
              <a:rPr lang="en-US" sz="1400" i="1" dirty="0">
                <a:solidFill>
                  <a:srgbClr val="34D399"/>
                </a:solidFill>
                <a:latin typeface="Segoe UI" pitchFamily="34" charset="0"/>
                <a:ea typeface="Segoe UI" pitchFamily="34" charset="-122"/>
                <a:cs typeface="Segoe UI" pitchFamily="34" charset="-120"/>
              </a:rPr>
              <a:t>“We would rather show you an honest defect register than a polished claim.”</a:t>
            </a:r>
            <a:endParaRPr lang="en-US" sz="1400" dirty="0"/>
          </a:p>
        </p:txBody>
      </p:sp>
      <p:sp>
        <p:nvSpPr>
          <p:cNvPr id="11" name="Text 8"/>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12" name="Text 9"/>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JUDGE MODE &amp; EVIDENCE</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One click, 51 checks, zero trust required</a:t>
            </a:r>
            <a:endParaRPr lang="en-US" sz="3800" dirty="0"/>
          </a:p>
        </p:txBody>
      </p:sp>
      <p:sp>
        <p:nvSpPr>
          <p:cNvPr id="4" name="Shape 2"/>
          <p:cNvSpPr/>
          <p:nvPr/>
        </p:nvSpPr>
        <p:spPr>
          <a:xfrm>
            <a:off x="548640" y="1783080"/>
            <a:ext cx="5394960" cy="1920240"/>
          </a:xfrm>
          <a:prstGeom prst="roundRect">
            <a:avLst>
              <a:gd name="adj" fmla="val 3810"/>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77240" y="1965960"/>
            <a:ext cx="4937760" cy="365760"/>
          </a:xfrm>
          <a:prstGeom prst="rect">
            <a:avLst/>
          </a:prstGeom>
          <a:noFill/>
          <a:ln/>
        </p:spPr>
        <p:txBody>
          <a:bodyPr wrap="square" lIns="0" tIns="0" rIns="0" bIns="0" rtlCol="0" anchor="ctr"/>
          <a:lstStyle/>
          <a:p>
            <a:pPr indent="0" marL="0">
              <a:buNone/>
            </a:pPr>
            <a:r>
              <a:rPr lang="en-US" sz="1700" b="1" dirty="0">
                <a:solidFill>
                  <a:srgbClr val="F1F5F9"/>
                </a:solidFill>
                <a:latin typeface="Segoe UI" pitchFamily="34" charset="0"/>
                <a:ea typeface="Segoe UI" pitchFamily="34" charset="-122"/>
                <a:cs typeface="Segoe UI" pitchFamily="34" charset="-120"/>
              </a:rPr>
              <a:t>Run Judge Conformance Matrix</a:t>
            </a:r>
            <a:endParaRPr lang="en-US" sz="1700" dirty="0"/>
          </a:p>
        </p:txBody>
      </p:sp>
      <p:sp>
        <p:nvSpPr>
          <p:cNvPr id="6" name="Text 4"/>
          <p:cNvSpPr/>
          <p:nvPr/>
        </p:nvSpPr>
        <p:spPr>
          <a:xfrm>
            <a:off x="777240" y="2377440"/>
            <a:ext cx="4937760" cy="1188720"/>
          </a:xfrm>
          <a:prstGeom prst="rect">
            <a:avLst/>
          </a:prstGeom>
          <a:noFill/>
          <a:ln/>
        </p:spPr>
        <p:txBody>
          <a:bodyPr wrap="square" lIns="0" tIns="0" rIns="0" bIns="0" rtlCol="0" anchor="ctr"/>
          <a:lstStyle/>
          <a:p>
            <a:pPr indent="0" marL="0">
              <a:lnSpc>
                <a:spcPct val="118000"/>
              </a:lnSpc>
              <a:buNone/>
            </a:pPr>
            <a:r>
              <a:rPr lang="en-US" sz="1250" dirty="0">
                <a:solidFill>
                  <a:srgbClr val="8DA2BD"/>
                </a:solidFill>
                <a:latin typeface="Segoe UI" pitchFamily="34" charset="0"/>
                <a:ea typeface="Segoe UI" pitchFamily="34" charset="-122"/>
                <a:cs typeface="Segoe UI" pitchFamily="34" charset="-120"/>
              </a:rPr>
              <a:t>8 concurrent lanes — vc+sd-jwt · dc+sd-jwt · ldp_vc · mso_mdoc · Draft-14 transpiled · live Collab probe · inji-verify lane — scored in ~0.4s with an honest scorecard and exportable report.</a:t>
            </a:r>
            <a:endParaRPr lang="en-US" sz="1250" dirty="0"/>
          </a:p>
        </p:txBody>
      </p:sp>
      <p:sp>
        <p:nvSpPr>
          <p:cNvPr id="7" name="Text 5"/>
          <p:cNvSpPr/>
          <p:nvPr/>
        </p:nvSpPr>
        <p:spPr>
          <a:xfrm>
            <a:off x="548640" y="3977640"/>
            <a:ext cx="11064240" cy="457200"/>
          </a:xfrm>
          <a:prstGeom prst="rect">
            <a:avLst/>
          </a:prstGeom>
          <a:noFill/>
          <a:ln/>
        </p:spPr>
        <p:txBody>
          <a:bodyPr wrap="square" lIns="0" tIns="0" rIns="0" bIns="0" rtlCol="0" anchor="ctr"/>
          <a:lstStyle/>
          <a:p>
            <a:pPr indent="0" marL="0">
              <a:buNone/>
            </a:pPr>
            <a:r>
              <a:rPr lang="en-US" sz="1350" b="1" dirty="0">
                <a:solidFill>
                  <a:srgbClr val="34D399"/>
                </a:solidFill>
                <a:latin typeface="Consolas" pitchFamily="34" charset="0"/>
                <a:ea typeface="Consolas" pitchFamily="34" charset="-122"/>
                <a:cs typeface="Consolas" pitchFamily="34" charset="-120"/>
              </a:rPr>
              <a:t>26/26  </a:t>
            </a:r>
            <a:pPr indent="0" marL="0">
              <a:buNone/>
            </a:pPr>
            <a:r>
              <a:rPr lang="en-US" sz="1350" b="1" dirty="0">
                <a:solidFill>
                  <a:srgbClr val="F1F5F9"/>
                </a:solidFill>
                <a:latin typeface="Segoe UI" pitchFamily="34" charset="0"/>
                <a:ea typeface="Segoe UI" pitchFamily="34" charset="-122"/>
                <a:cs typeface="Segoe UI" pitchFamily="34" charset="-120"/>
              </a:rPr>
              <a:t>Chain of Verification — </a:t>
            </a:r>
            <a:pPr indent="0" marL="0">
              <a:buNone/>
            </a:pPr>
            <a:r>
              <a:rPr lang="en-US" sz="1350" dirty="0">
                <a:solidFill>
                  <a:srgbClr val="8DA2BD"/>
                </a:solidFill>
                <a:latin typeface="Segoe UI" pitchFamily="34" charset="0"/>
                <a:ea typeface="Segoe UI" pitchFamily="34" charset="-122"/>
                <a:cs typeface="Segoe UI" pitchFamily="34" charset="-120"/>
              </a:rPr>
              <a:t>DPoP · sd_hash · P1363 · 8 chaos vectors · replay · mdoc</a:t>
            </a:r>
            <a:endParaRPr lang="en-US" sz="1350" dirty="0"/>
          </a:p>
        </p:txBody>
      </p:sp>
      <p:sp>
        <p:nvSpPr>
          <p:cNvPr id="8" name="Text 6"/>
          <p:cNvSpPr/>
          <p:nvPr/>
        </p:nvSpPr>
        <p:spPr>
          <a:xfrm>
            <a:off x="548640" y="4544568"/>
            <a:ext cx="11064240" cy="457200"/>
          </a:xfrm>
          <a:prstGeom prst="rect">
            <a:avLst/>
          </a:prstGeom>
          <a:noFill/>
          <a:ln/>
        </p:spPr>
        <p:txBody>
          <a:bodyPr wrap="square" lIns="0" tIns="0" rIns="0" bIns="0" rtlCol="0" anchor="ctr"/>
          <a:lstStyle/>
          <a:p>
            <a:pPr indent="0" marL="0">
              <a:buNone/>
            </a:pPr>
            <a:r>
              <a:rPr lang="en-US" sz="1350" b="1" dirty="0">
                <a:solidFill>
                  <a:srgbClr val="34D399"/>
                </a:solidFill>
                <a:latin typeface="Consolas" pitchFamily="34" charset="0"/>
                <a:ea typeface="Consolas" pitchFamily="34" charset="-122"/>
                <a:cs typeface="Consolas" pitchFamily="34" charset="-120"/>
              </a:rPr>
              <a:t>10/10  </a:t>
            </a:r>
            <a:pPr indent="0" marL="0">
              <a:buNone/>
            </a:pPr>
            <a:r>
              <a:rPr lang="en-US" sz="1350" b="1" dirty="0">
                <a:solidFill>
                  <a:srgbClr val="F1F5F9"/>
                </a:solidFill>
                <a:latin typeface="Segoe UI" pitchFamily="34" charset="0"/>
                <a:ea typeface="Segoe UI" pitchFamily="34" charset="-122"/>
                <a:cs typeface="Segoe UI" pitchFamily="34" charset="-120"/>
              </a:rPr>
              <a:t>Adversarial Security Suite — </a:t>
            </a:r>
            <a:pPr indent="0" marL="0">
              <a:buNone/>
            </a:pPr>
            <a:r>
              <a:rPr lang="en-US" sz="1350" dirty="0">
                <a:solidFill>
                  <a:srgbClr val="8DA2BD"/>
                </a:solidFill>
                <a:latin typeface="Segoe UI" pitchFamily="34" charset="0"/>
                <a:ea typeface="Segoe UI" pitchFamily="34" charset="-122"/>
                <a:cs typeface="Segoe UI" pitchFamily="34" charset="-120"/>
              </a:rPr>
              <a:t>attacker-held keys — was 3/10 before remediation</a:t>
            </a:r>
            <a:endParaRPr lang="en-US" sz="1350" dirty="0"/>
          </a:p>
        </p:txBody>
      </p:sp>
      <p:sp>
        <p:nvSpPr>
          <p:cNvPr id="9" name="Text 7"/>
          <p:cNvSpPr/>
          <p:nvPr/>
        </p:nvSpPr>
        <p:spPr>
          <a:xfrm>
            <a:off x="548640" y="5111496"/>
            <a:ext cx="11064240" cy="457200"/>
          </a:xfrm>
          <a:prstGeom prst="rect">
            <a:avLst/>
          </a:prstGeom>
          <a:noFill/>
          <a:ln/>
        </p:spPr>
        <p:txBody>
          <a:bodyPr wrap="square" lIns="0" tIns="0" rIns="0" bIns="0" rtlCol="0" anchor="ctr"/>
          <a:lstStyle/>
          <a:p>
            <a:pPr indent="0" marL="0">
              <a:buNone/>
            </a:pPr>
            <a:r>
              <a:rPr lang="en-US" sz="1350" b="1" dirty="0">
                <a:solidFill>
                  <a:srgbClr val="34D399"/>
                </a:solidFill>
                <a:latin typeface="Consolas" pitchFamily="34" charset="0"/>
                <a:ea typeface="Consolas" pitchFamily="34" charset="-122"/>
                <a:cs typeface="Consolas" pitchFamily="34" charset="-120"/>
              </a:rPr>
              <a:t>4/4  </a:t>
            </a:r>
            <a:pPr indent="0" marL="0">
              <a:buNone/>
            </a:pPr>
            <a:r>
              <a:rPr lang="en-US" sz="1350" b="1" dirty="0">
                <a:solidFill>
                  <a:srgbClr val="F1F5F9"/>
                </a:solidFill>
                <a:latin typeface="Segoe UI" pitchFamily="34" charset="0"/>
                <a:ea typeface="Segoe UI" pitchFamily="34" charset="-122"/>
                <a:cs typeface="Segoe UI" pitchFamily="34" charset="-120"/>
              </a:rPr>
              <a:t>mdoc Tamper &amp; Replay — </a:t>
            </a:r>
            <a:pPr indent="0" marL="0">
              <a:buNone/>
            </a:pPr>
            <a:r>
              <a:rPr lang="en-US" sz="1350" dirty="0">
                <a:solidFill>
                  <a:srgbClr val="8DA2BD"/>
                </a:solidFill>
                <a:latin typeface="Segoe UI" pitchFamily="34" charset="0"/>
                <a:ea typeface="Segoe UI" pitchFamily="34" charset="-122"/>
                <a:cs typeface="Segoe UI" pitchFamily="34" charset="-120"/>
              </a:rPr>
              <a:t>MSO digest mismatch · digestID · nonce replay</a:t>
            </a:r>
            <a:endParaRPr lang="en-US" sz="1350" dirty="0"/>
          </a:p>
        </p:txBody>
      </p:sp>
      <p:sp>
        <p:nvSpPr>
          <p:cNvPr id="10" name="Text 8"/>
          <p:cNvSpPr/>
          <p:nvPr/>
        </p:nvSpPr>
        <p:spPr>
          <a:xfrm>
            <a:off x="548640" y="5678424"/>
            <a:ext cx="11064240" cy="457200"/>
          </a:xfrm>
          <a:prstGeom prst="rect">
            <a:avLst/>
          </a:prstGeom>
          <a:noFill/>
          <a:ln/>
        </p:spPr>
        <p:txBody>
          <a:bodyPr wrap="square" lIns="0" tIns="0" rIns="0" bIns="0" rtlCol="0" anchor="ctr"/>
          <a:lstStyle/>
          <a:p>
            <a:pPr indent="0" marL="0">
              <a:buNone/>
            </a:pPr>
            <a:r>
              <a:rPr lang="en-US" sz="1350" b="1" dirty="0">
                <a:solidFill>
                  <a:srgbClr val="34D399"/>
                </a:solidFill>
                <a:latin typeface="Consolas" pitchFamily="34" charset="0"/>
                <a:ea typeface="Consolas" pitchFamily="34" charset="-122"/>
                <a:cs typeface="Consolas" pitchFamily="34" charset="-120"/>
              </a:rPr>
              <a:t>8/8  </a:t>
            </a:r>
            <a:pPr indent="0" marL="0">
              <a:buNone/>
            </a:pPr>
            <a:r>
              <a:rPr lang="en-US" sz="1350" b="1" dirty="0">
                <a:solidFill>
                  <a:srgbClr val="F1F5F9"/>
                </a:solidFill>
                <a:latin typeface="Segoe UI" pitchFamily="34" charset="0"/>
                <a:ea typeface="Segoe UI" pitchFamily="34" charset="-122"/>
                <a:cs typeface="Segoe UI" pitchFamily="34" charset="-120"/>
              </a:rPr>
              <a:t>CI Interop Matrix — </a:t>
            </a:r>
            <a:pPr indent="0" marL="0">
              <a:buNone/>
            </a:pPr>
            <a:r>
              <a:rPr lang="en-US" sz="1350" dirty="0">
                <a:solidFill>
                  <a:srgbClr val="8DA2BD"/>
                </a:solidFill>
                <a:latin typeface="Segoe UI" pitchFamily="34" charset="0"/>
                <a:ea typeface="Segoe UI" pitchFamily="34" charset="-122"/>
                <a:cs typeface="Segoe UI" pitchFamily="34" charset="-120"/>
              </a:rPr>
              <a:t>fail-closed CLI + GitHub Action on every push</a:t>
            </a:r>
            <a:endParaRPr lang="en-US" sz="1350" dirty="0"/>
          </a:p>
        </p:txBody>
      </p:sp>
      <p:sp>
        <p:nvSpPr>
          <p:cNvPr id="11" name="Shape 9"/>
          <p:cNvSpPr/>
          <p:nvPr/>
        </p:nvSpPr>
        <p:spPr>
          <a:xfrm>
            <a:off x="6263640" y="1783080"/>
            <a:ext cx="5376672" cy="1920240"/>
          </a:xfrm>
          <a:prstGeom prst="roundRect">
            <a:avLst>
              <a:gd name="adj" fmla="val 3810"/>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6492240" y="1965960"/>
            <a:ext cx="4937760" cy="1600200"/>
          </a:xfrm>
          <a:prstGeom prst="rect">
            <a:avLst/>
          </a:prstGeom>
          <a:noFill/>
          <a:ln/>
        </p:spPr>
        <p:txBody>
          <a:bodyPr wrap="square" lIns="0" tIns="0" rIns="0" bIns="0" rtlCol="0" anchor="ctr"/>
          <a:lstStyle/>
          <a:p>
            <a:pPr indent="0" marL="0">
              <a:lnSpc>
                <a:spcPct val="125000"/>
              </a:lnSpc>
              <a:buNone/>
            </a:pPr>
            <a:r>
              <a:rPr lang="en-US" sz="1200" dirty="0">
                <a:solidFill>
                  <a:srgbClr val="8DA2BD"/>
                </a:solidFill>
                <a:latin typeface="Consolas" pitchFamily="34" charset="0"/>
                <a:ea typeface="Consolas" pitchFamily="34" charset="-122"/>
                <a:cs typeface="Consolas" pitchFamily="34" charset="-120"/>
              </a:rPr>
              <a:t>$ </a:t>
            </a:r>
            <a:pPr indent="0" marL="0">
              <a:lnSpc>
                <a:spcPct val="125000"/>
              </a:lnSpc>
              <a:buNone/>
            </a:pPr>
            <a:r>
              <a:rPr lang="en-US" sz="1200" dirty="0">
                <a:solidFill>
                  <a:srgbClr val="34D399"/>
                </a:solidFill>
                <a:latin typeface="Consolas" pitchFamily="34" charset="0"/>
                <a:ea typeface="Consolas" pitchFamily="34" charset="-122"/>
                <a:cs typeface="Consolas" pitchFamily="34" charset="-120"/>
              </a:rPr>
              <a:t>node scripts/test_e2e_local.js
</a:t>
            </a:r>
            <a:pPr indent="0" marL="0">
              <a:lnSpc>
                <a:spcPct val="125000"/>
              </a:lnSpc>
              <a:buNone/>
            </a:pPr>
            <a:r>
              <a:rPr lang="en-US" sz="1200" b="1" dirty="0">
                <a:solidFill>
                  <a:srgbClr val="F1F5F9"/>
                </a:solidFill>
                <a:latin typeface="Consolas" pitchFamily="34" charset="0"/>
                <a:ea typeface="Consolas" pitchFamily="34" charset="-122"/>
                <a:cs typeface="Consolas" pitchFamily="34" charset="-120"/>
              </a:rPr>
              <a:t>FINAL VERIFICATION RESULTS: 26/26 CHECKS PASSED (100%)
</a:t>
            </a:r>
            <a:pPr indent="0" marL="0">
              <a:lnSpc>
                <a:spcPct val="125000"/>
              </a:lnSpc>
              <a:buNone/>
            </a:pPr>
            <a:r>
              <a:rPr lang="en-US" sz="1200" dirty="0">
                <a:solidFill>
                  <a:srgbClr val="8DA2BD"/>
                </a:solidFill>
                <a:latin typeface="Consolas" pitchFamily="34" charset="0"/>
                <a:ea typeface="Consolas" pitchFamily="34" charset="-122"/>
                <a:cs typeface="Consolas" pitchFamily="34" charset="-120"/>
              </a:rPr>
              <a:t>$ </a:t>
            </a:r>
            <a:pPr indent="0" marL="0">
              <a:lnSpc>
                <a:spcPct val="125000"/>
              </a:lnSpc>
              <a:buNone/>
            </a:pPr>
            <a:r>
              <a:rPr lang="en-US" sz="1200" dirty="0">
                <a:solidFill>
                  <a:srgbClr val="34D399"/>
                </a:solidFill>
                <a:latin typeface="Consolas" pitchFamily="34" charset="0"/>
                <a:ea typeface="Consolas" pitchFamily="34" charset="-122"/>
                <a:cs typeface="Consolas" pitchFamily="34" charset="-120"/>
              </a:rPr>
              <a:t>node scripts/test_security_regression.js
</a:t>
            </a:r>
            <a:pPr indent="0" marL="0">
              <a:lnSpc>
                <a:spcPct val="125000"/>
              </a:lnSpc>
              <a:buNone/>
            </a:pPr>
            <a:r>
              <a:rPr lang="en-US" sz="1200" b="1" dirty="0">
                <a:solidFill>
                  <a:srgbClr val="F1F5F9"/>
                </a:solidFill>
                <a:latin typeface="Consolas" pitchFamily="34" charset="0"/>
                <a:ea typeface="Consolas" pitchFamily="34" charset="-122"/>
                <a:cs typeface="Consolas" pitchFamily="34" charset="-120"/>
              </a:rPr>
              <a:t>SECURITY REGRESSION RESULTS: 10/10 PASSED</a:t>
            </a:r>
            <a:endParaRPr lang="en-US" sz="1200" dirty="0"/>
          </a:p>
        </p:txBody>
      </p:sp>
      <p:sp>
        <p:nvSpPr>
          <p:cNvPr id="13" name="Text 1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14" name="Text 12"/>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11091672" cy="310896"/>
          </a:xfrm>
          <a:prstGeom prst="rect">
            <a:avLst/>
          </a:prstGeom>
          <a:noFill/>
          <a:ln/>
        </p:spPr>
        <p:txBody>
          <a:bodyPr wrap="square" lIns="0" tIns="0" rIns="0" bIns="0" rtlCol="0" anchor="ctr"/>
          <a:lstStyle/>
          <a:p>
            <a:pPr indent="0" marL="0">
              <a:buNone/>
            </a:pPr>
            <a:r>
              <a:rPr lang="en-US" sz="1300" spc="300" kern="0" dirty="0">
                <a:solidFill>
                  <a:srgbClr val="22D3EE"/>
                </a:solidFill>
                <a:latin typeface="Consolas" pitchFamily="34" charset="0"/>
                <a:ea typeface="Consolas" pitchFamily="34" charset="-122"/>
                <a:cs typeface="Consolas" pitchFamily="34" charset="-120"/>
              </a:rPr>
              <a:t>PRODUCTION READINESS</a:t>
            </a:r>
            <a:endParaRPr lang="en-US" sz="1300" dirty="0"/>
          </a:p>
        </p:txBody>
      </p:sp>
      <p:sp>
        <p:nvSpPr>
          <p:cNvPr id="3" name="Text 1"/>
          <p:cNvSpPr/>
          <p:nvPr/>
        </p:nvSpPr>
        <p:spPr>
          <a:xfrm>
            <a:off x="548640" y="658368"/>
            <a:ext cx="11091672" cy="777240"/>
          </a:xfrm>
          <a:prstGeom prst="rect">
            <a:avLst/>
          </a:prstGeom>
          <a:noFill/>
          <a:ln/>
        </p:spPr>
        <p:txBody>
          <a:bodyPr wrap="square" lIns="0" tIns="0" rIns="0" bIns="0" rtlCol="0" anchor="ctr"/>
          <a:lstStyle/>
          <a:p>
            <a:pPr indent="0" marL="0">
              <a:buNone/>
            </a:pPr>
            <a:r>
              <a:rPr lang="en-US" sz="3800" b="1" dirty="0">
                <a:solidFill>
                  <a:srgbClr val="F1F5F9"/>
                </a:solidFill>
                <a:latin typeface="Segoe UI" pitchFamily="34" charset="0"/>
                <a:ea typeface="Segoe UI" pitchFamily="34" charset="-122"/>
                <a:cs typeface="Segoe UI" pitchFamily="34" charset="-120"/>
              </a:rPr>
              <a:t>Boring where it counts</a:t>
            </a:r>
            <a:endParaRPr lang="en-US" sz="3800" dirty="0"/>
          </a:p>
        </p:txBody>
      </p:sp>
      <p:sp>
        <p:nvSpPr>
          <p:cNvPr id="4" name="Shape 2"/>
          <p:cNvSpPr/>
          <p:nvPr/>
        </p:nvSpPr>
        <p:spPr>
          <a:xfrm>
            <a:off x="548640" y="182880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77240" y="2011680"/>
            <a:ext cx="3017520" cy="594360"/>
          </a:xfrm>
          <a:prstGeom prst="rect">
            <a:avLst/>
          </a:prstGeom>
          <a:noFill/>
          <a:ln/>
        </p:spPr>
        <p:txBody>
          <a:bodyPr wrap="square" lIns="0" tIns="0" rIns="0" bIns="0" rtlCol="0" anchor="ctr"/>
          <a:lstStyle/>
          <a:p>
            <a:pPr indent="0" marL="0">
              <a:buNone/>
            </a:pPr>
            <a:r>
              <a:rPr lang="en-US" sz="3000" b="1" dirty="0">
                <a:solidFill>
                  <a:srgbClr val="22D3EE"/>
                </a:solidFill>
                <a:latin typeface="Consolas" pitchFamily="34" charset="0"/>
                <a:ea typeface="Consolas" pitchFamily="34" charset="-122"/>
                <a:cs typeface="Consolas" pitchFamily="34" charset="-120"/>
              </a:rPr>
              <a:t>920 MB</a:t>
            </a:r>
            <a:endParaRPr lang="en-US" sz="3000" dirty="0"/>
          </a:p>
        </p:txBody>
      </p:sp>
      <p:sp>
        <p:nvSpPr>
          <p:cNvPr id="6" name="Text 4"/>
          <p:cNvSpPr/>
          <p:nvPr/>
        </p:nvSpPr>
        <p:spPr>
          <a:xfrm>
            <a:off x="777240" y="267004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hard Docker RAM ceiling across 4 containers (budget: 1,500 MB)</a:t>
            </a:r>
            <a:endParaRPr lang="en-US" sz="1200" dirty="0"/>
          </a:p>
        </p:txBody>
      </p:sp>
      <p:sp>
        <p:nvSpPr>
          <p:cNvPr id="7" name="Shape 5"/>
          <p:cNvSpPr/>
          <p:nvPr/>
        </p:nvSpPr>
        <p:spPr>
          <a:xfrm>
            <a:off x="4325112" y="182880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4553712" y="2011680"/>
            <a:ext cx="3017520" cy="594360"/>
          </a:xfrm>
          <a:prstGeom prst="rect">
            <a:avLst/>
          </a:prstGeom>
          <a:noFill/>
          <a:ln/>
        </p:spPr>
        <p:txBody>
          <a:bodyPr wrap="square" lIns="0" tIns="0" rIns="0" bIns="0" rtlCol="0" anchor="ctr"/>
          <a:lstStyle/>
          <a:p>
            <a:pPr indent="0" marL="0">
              <a:buNone/>
            </a:pPr>
            <a:r>
              <a:rPr lang="en-US" sz="3000" b="1" dirty="0">
                <a:solidFill>
                  <a:srgbClr val="22D3EE"/>
                </a:solidFill>
                <a:latin typeface="Consolas" pitchFamily="34" charset="0"/>
                <a:ea typeface="Consolas" pitchFamily="34" charset="-122"/>
                <a:cs typeface="Consolas" pitchFamily="34" charset="-120"/>
              </a:rPr>
              <a:t>&lt; 100 ms</a:t>
            </a:r>
            <a:endParaRPr lang="en-US" sz="3000" dirty="0"/>
          </a:p>
        </p:txBody>
      </p:sp>
      <p:sp>
        <p:nvSpPr>
          <p:cNvPr id="9" name="Text 7"/>
          <p:cNvSpPr/>
          <p:nvPr/>
        </p:nvSpPr>
        <p:spPr>
          <a:xfrm>
            <a:off x="4553712" y="267004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inspector updates over WebSocket per protocol hop</a:t>
            </a:r>
            <a:endParaRPr lang="en-US" sz="1200" dirty="0"/>
          </a:p>
        </p:txBody>
      </p:sp>
      <p:sp>
        <p:nvSpPr>
          <p:cNvPr id="10" name="Shape 8"/>
          <p:cNvSpPr/>
          <p:nvPr/>
        </p:nvSpPr>
        <p:spPr>
          <a:xfrm>
            <a:off x="8101584" y="182880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8330184" y="2011680"/>
            <a:ext cx="3017520" cy="594360"/>
          </a:xfrm>
          <a:prstGeom prst="rect">
            <a:avLst/>
          </a:prstGeom>
          <a:noFill/>
          <a:ln/>
        </p:spPr>
        <p:txBody>
          <a:bodyPr wrap="square" lIns="0" tIns="0" rIns="0" bIns="0" rtlCol="0" anchor="ctr"/>
          <a:lstStyle/>
          <a:p>
            <a:pPr indent="0" marL="0">
              <a:buNone/>
            </a:pPr>
            <a:r>
              <a:rPr lang="en-US" sz="3000" b="1" dirty="0">
                <a:solidFill>
                  <a:srgbClr val="34D399"/>
                </a:solidFill>
                <a:latin typeface="Consolas" pitchFamily="34" charset="0"/>
                <a:ea typeface="Consolas" pitchFamily="34" charset="-122"/>
                <a:cs typeface="Consolas" pitchFamily="34" charset="-120"/>
              </a:rPr>
              <a:t>0</a:t>
            </a:r>
            <a:endParaRPr lang="en-US" sz="3000" dirty="0"/>
          </a:p>
        </p:txBody>
      </p:sp>
      <p:sp>
        <p:nvSpPr>
          <p:cNvPr id="12" name="Text 10"/>
          <p:cNvSpPr/>
          <p:nvPr/>
        </p:nvSpPr>
        <p:spPr>
          <a:xfrm>
            <a:off x="8330184" y="267004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npm audit vulnerabilities across all services (HIGH body-parser patched)</a:t>
            </a:r>
            <a:endParaRPr lang="en-US" sz="1200" dirty="0"/>
          </a:p>
        </p:txBody>
      </p:sp>
      <p:sp>
        <p:nvSpPr>
          <p:cNvPr id="13" name="Shape 11"/>
          <p:cNvSpPr/>
          <p:nvPr/>
        </p:nvSpPr>
        <p:spPr>
          <a:xfrm>
            <a:off x="548640" y="379476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4" name="Text 12"/>
          <p:cNvSpPr/>
          <p:nvPr/>
        </p:nvSpPr>
        <p:spPr>
          <a:xfrm>
            <a:off x="777240" y="3977640"/>
            <a:ext cx="3017520" cy="594360"/>
          </a:xfrm>
          <a:prstGeom prst="rect">
            <a:avLst/>
          </a:prstGeom>
          <a:noFill/>
          <a:ln/>
        </p:spPr>
        <p:txBody>
          <a:bodyPr wrap="square" lIns="0" tIns="0" rIns="0" bIns="0" rtlCol="0" anchor="ctr"/>
          <a:lstStyle/>
          <a:p>
            <a:pPr indent="0" marL="0">
              <a:buNone/>
            </a:pPr>
            <a:r>
              <a:rPr lang="en-US" sz="3000" b="1" dirty="0">
                <a:solidFill>
                  <a:srgbClr val="22D3EE"/>
                </a:solidFill>
                <a:latin typeface="Consolas" pitchFamily="34" charset="0"/>
                <a:ea typeface="Consolas" pitchFamily="34" charset="-122"/>
                <a:cs typeface="Consolas" pitchFamily="34" charset="-120"/>
              </a:rPr>
              <a:t>1</a:t>
            </a:r>
            <a:endParaRPr lang="en-US" sz="3000" dirty="0"/>
          </a:p>
        </p:txBody>
      </p:sp>
      <p:sp>
        <p:nvSpPr>
          <p:cNvPr id="15" name="Text 13"/>
          <p:cNvSpPr/>
          <p:nvPr/>
        </p:nvSpPr>
        <p:spPr>
          <a:xfrm>
            <a:off x="777240" y="463600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command to run: docker compose up --build — offline, no config</a:t>
            </a:r>
            <a:endParaRPr lang="en-US" sz="1200" dirty="0"/>
          </a:p>
        </p:txBody>
      </p:sp>
      <p:sp>
        <p:nvSpPr>
          <p:cNvPr id="16" name="Shape 14"/>
          <p:cNvSpPr/>
          <p:nvPr/>
        </p:nvSpPr>
        <p:spPr>
          <a:xfrm>
            <a:off x="4325112" y="379476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4553712" y="3977640"/>
            <a:ext cx="3017520" cy="594360"/>
          </a:xfrm>
          <a:prstGeom prst="rect">
            <a:avLst/>
          </a:prstGeom>
          <a:noFill/>
          <a:ln/>
        </p:spPr>
        <p:txBody>
          <a:bodyPr wrap="square" lIns="0" tIns="0" rIns="0" bIns="0" rtlCol="0" anchor="ctr"/>
          <a:lstStyle/>
          <a:p>
            <a:pPr indent="0" marL="0">
              <a:buNone/>
            </a:pPr>
            <a:r>
              <a:rPr lang="en-US" sz="3000" b="1" dirty="0">
                <a:solidFill>
                  <a:srgbClr val="22D3EE"/>
                </a:solidFill>
                <a:latin typeface="Consolas" pitchFamily="34" charset="0"/>
                <a:ea typeface="Consolas" pitchFamily="34" charset="-122"/>
                <a:cs typeface="Consolas" pitchFamily="34" charset="-120"/>
              </a:rPr>
              <a:t>Apache-2.0</a:t>
            </a:r>
            <a:endParaRPr lang="en-US" sz="3000" dirty="0"/>
          </a:p>
        </p:txBody>
      </p:sp>
      <p:sp>
        <p:nvSpPr>
          <p:cNvPr id="18" name="Text 16"/>
          <p:cNvSpPr/>
          <p:nvPr/>
        </p:nvSpPr>
        <p:spPr>
          <a:xfrm>
            <a:off x="4553712" y="463600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OSI-approved license; zero proprietary or paid APIs</a:t>
            </a:r>
            <a:endParaRPr lang="en-US" sz="1200" dirty="0"/>
          </a:p>
        </p:txBody>
      </p:sp>
      <p:sp>
        <p:nvSpPr>
          <p:cNvPr id="19" name="Shape 17"/>
          <p:cNvSpPr/>
          <p:nvPr/>
        </p:nvSpPr>
        <p:spPr>
          <a:xfrm>
            <a:off x="8101584" y="3794760"/>
            <a:ext cx="3520440" cy="1737360"/>
          </a:xfrm>
          <a:prstGeom prst="roundRect">
            <a:avLst>
              <a:gd name="adj" fmla="val 4211"/>
            </a:avLst>
          </a:prstGeom>
          <a:solidFill>
            <a:srgbClr val="121B2F"/>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20" name="Text 18"/>
          <p:cNvSpPr/>
          <p:nvPr/>
        </p:nvSpPr>
        <p:spPr>
          <a:xfrm>
            <a:off x="8330184" y="3977640"/>
            <a:ext cx="3017520" cy="594360"/>
          </a:xfrm>
          <a:prstGeom prst="rect">
            <a:avLst/>
          </a:prstGeom>
          <a:noFill/>
          <a:ln/>
        </p:spPr>
        <p:txBody>
          <a:bodyPr wrap="square" lIns="0" tIns="0" rIns="0" bIns="0" rtlCol="0" anchor="ctr"/>
          <a:lstStyle/>
          <a:p>
            <a:pPr indent="0" marL="0">
              <a:buNone/>
            </a:pPr>
            <a:r>
              <a:rPr lang="en-US" sz="3000" b="1" dirty="0">
                <a:solidFill>
                  <a:srgbClr val="22D3EE"/>
                </a:solidFill>
                <a:latin typeface="Consolas" pitchFamily="34" charset="0"/>
                <a:ea typeface="Consolas" pitchFamily="34" charset="-122"/>
                <a:cs typeface="Consolas" pitchFamily="34" charset="-120"/>
              </a:rPr>
              <a:t>~15 MB</a:t>
            </a:r>
            <a:endParaRPr lang="en-US" sz="3000" dirty="0"/>
          </a:p>
        </p:txBody>
      </p:sp>
      <p:sp>
        <p:nvSpPr>
          <p:cNvPr id="21" name="Text 19"/>
          <p:cNvSpPr/>
          <p:nvPr/>
        </p:nvSpPr>
        <p:spPr>
          <a:xfrm>
            <a:off x="8330184" y="4636008"/>
            <a:ext cx="3063240" cy="822960"/>
          </a:xfrm>
          <a:prstGeom prst="rect">
            <a:avLst/>
          </a:prstGeom>
          <a:noFill/>
          <a:ln/>
        </p:spPr>
        <p:txBody>
          <a:bodyPr wrap="square" lIns="0" tIns="0" rIns="0" bIns="0" rtlCol="0" anchor="ctr"/>
          <a:lstStyle/>
          <a:p>
            <a:pPr indent="0" marL="0">
              <a:lnSpc>
                <a:spcPct val="115000"/>
              </a:lnSpc>
              <a:buNone/>
            </a:pPr>
            <a:r>
              <a:rPr lang="en-US" sz="1200" dirty="0">
                <a:solidFill>
                  <a:srgbClr val="8DA2BD"/>
                </a:solidFill>
                <a:latin typeface="Segoe UI" pitchFamily="34" charset="0"/>
                <a:ea typeface="Segoe UI" pitchFamily="34" charset="-122"/>
                <a:cs typeface="Segoe UI" pitchFamily="34" charset="-120"/>
              </a:rPr>
              <a:t>idle V8 heap per service — runs on a laptop</a:t>
            </a:r>
            <a:endParaRPr lang="en-US" sz="1200" dirty="0"/>
          </a:p>
        </p:txBody>
      </p:sp>
      <p:sp>
        <p:nvSpPr>
          <p:cNvPr id="22" name="Text 20"/>
          <p:cNvSpPr/>
          <p:nvPr/>
        </p:nvSpPr>
        <p:spPr>
          <a:xfrm>
            <a:off x="548640" y="5870448"/>
            <a:ext cx="11064240" cy="365760"/>
          </a:xfrm>
          <a:prstGeom prst="rect">
            <a:avLst/>
          </a:prstGeom>
          <a:noFill/>
          <a:ln/>
        </p:spPr>
        <p:txBody>
          <a:bodyPr wrap="square" lIns="0" tIns="0" rIns="0" bIns="0" rtlCol="0" anchor="ctr"/>
          <a:lstStyle/>
          <a:p>
            <a:pPr indent="0" marL="0">
              <a:buNone/>
            </a:pPr>
            <a:r>
              <a:rPr lang="en-US" sz="1200" dirty="0">
                <a:solidFill>
                  <a:srgbClr val="8DA2BD"/>
                </a:solidFill>
                <a:latin typeface="Consolas" pitchFamily="34" charset="0"/>
                <a:ea typeface="Consolas" pitchFamily="34" charset="-122"/>
                <a:cs typeface="Consolas" pitchFamily="34" charset="-120"/>
              </a:rPr>
              <a:t>Healthchecked containers · ordered startup · SQLite WAL persistence · CI workflow on push/PR/manual · fail-closed test exits on every suite</a:t>
            </a:r>
            <a:endParaRPr lang="en-US" sz="1200" dirty="0"/>
          </a:p>
        </p:txBody>
      </p:sp>
      <p:sp>
        <p:nvSpPr>
          <p:cNvPr id="23" name="Text 2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8DA2BD"/>
                </a:solidFill>
                <a:latin typeface="Segoe UI" pitchFamily="34" charset="0"/>
                <a:ea typeface="Segoe UI" pitchFamily="34" charset="-122"/>
                <a:cs typeface="Segoe UI" pitchFamily="34" charset="-120"/>
              </a:rPr>
              <a:t>MOSIP Decode 2026 · PS02 · Inji Conformance Laboratory</a:t>
            </a:r>
            <a:endParaRPr lang="en-US" sz="1000" dirty="0"/>
          </a:p>
        </p:txBody>
      </p:sp>
      <p:sp>
        <p:nvSpPr>
          <p:cNvPr id="24" name="Text 22"/>
          <p:cNvSpPr/>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8DA2BD"/>
                </a:solidFill>
                <a:latin typeface="Consolas" pitchFamily="34" charset="0"/>
                <a:ea typeface="Consolas" pitchFamily="34" charset="-122"/>
                <a:cs typeface="Consola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194560" y="3657600"/>
            <a:ext cx="6035040" cy="6035040"/>
          </a:xfrm>
          <a:prstGeom prst="ellipse">
            <a:avLst/>
          </a:prstGeom>
          <a:solidFill>
            <a:srgbClr val="0E1B33"/>
          </a:solidFill>
          <a:ln w="12700">
            <a:solidFill>
              <a:srgbClr val="22304E"/>
            </a:solidFill>
            <a:prstDash val="solid"/>
          </a:ln>
        </p:spPr>
      </p:sp>
      <p:sp>
        <p:nvSpPr>
          <p:cNvPr id="3" name="Text 1"/>
          <p:cNvSpPr/>
          <p:nvPr/>
        </p:nvSpPr>
        <p:spPr>
          <a:xfrm>
            <a:off x="548640" y="1188720"/>
            <a:ext cx="6400800" cy="2011680"/>
          </a:xfrm>
          <a:prstGeom prst="rect">
            <a:avLst/>
          </a:prstGeom>
          <a:noFill/>
          <a:ln/>
        </p:spPr>
        <p:txBody>
          <a:bodyPr wrap="square" lIns="0" tIns="0" rIns="0" bIns="0" rtlCol="0" anchor="ctr"/>
          <a:lstStyle/>
          <a:p>
            <a:pPr indent="0" marL="0">
              <a:lnSpc>
                <a:spcPct val="100000"/>
              </a:lnSpc>
              <a:buNone/>
            </a:pPr>
            <a:r>
              <a:rPr lang="en-US" sz="6000" b="1" dirty="0">
                <a:solidFill>
                  <a:srgbClr val="F1F5F9"/>
                </a:solidFill>
                <a:latin typeface="Segoe UI" pitchFamily="34" charset="0"/>
                <a:ea typeface="Segoe UI" pitchFamily="34" charset="-122"/>
                <a:cs typeface="Segoe UI" pitchFamily="34" charset="-120"/>
              </a:rPr>
              <a:t>Proven,</a:t>
            </a:r>
            <a:endParaRPr lang="en-US" sz="6000" dirty="0"/>
          </a:p>
          <a:p>
            <a:pPr indent="0" marL="0">
              <a:lnSpc>
                <a:spcPct val="100000"/>
              </a:lnSpc>
              <a:buNone/>
            </a:pPr>
            <a:r>
              <a:rPr lang="en-US" sz="6000" b="1" dirty="0">
                <a:solidFill>
                  <a:srgbClr val="F1F5F9"/>
                </a:solidFill>
                <a:latin typeface="Segoe UI" pitchFamily="34" charset="0"/>
                <a:ea typeface="Segoe UI" pitchFamily="34" charset="-122"/>
                <a:cs typeface="Segoe UI" pitchFamily="34" charset="-120"/>
              </a:rPr>
              <a:t>not promised.</a:t>
            </a:r>
            <a:endParaRPr lang="en-US" sz="6000" dirty="0"/>
          </a:p>
        </p:txBody>
      </p:sp>
      <p:sp>
        <p:nvSpPr>
          <p:cNvPr id="4" name="Text 2"/>
          <p:cNvSpPr/>
          <p:nvPr/>
        </p:nvSpPr>
        <p:spPr>
          <a:xfrm>
            <a:off x="548640" y="3383280"/>
            <a:ext cx="6309360" cy="1234440"/>
          </a:xfrm>
          <a:prstGeom prst="rect">
            <a:avLst/>
          </a:prstGeom>
          <a:noFill/>
          <a:ln/>
        </p:spPr>
        <p:txBody>
          <a:bodyPr wrap="square" lIns="0" tIns="0" rIns="0" bIns="0" rtlCol="0" anchor="ctr"/>
          <a:lstStyle/>
          <a:p>
            <a:pPr indent="0" marL="0">
              <a:lnSpc>
                <a:spcPct val="120000"/>
              </a:lnSpc>
              <a:buNone/>
            </a:pPr>
            <a:r>
              <a:rPr lang="en-US" sz="1650" dirty="0">
                <a:solidFill>
                  <a:srgbClr val="8DA2BD"/>
                </a:solidFill>
                <a:latin typeface="Segoe UI" pitchFamily="34" charset="0"/>
                <a:ea typeface="Segoe UI" pitchFamily="34" charset="-122"/>
                <a:cs typeface="Segoe UI" pitchFamily="34" charset="-120"/>
              </a:rPr>
              <a:t>Real cryptography. Four credential formats. Eighteen attack vectors, each rejected with its exact error code. An honest audit that found and fixed its own vulnerabilities before you could. One command, 920 MB, Apache-2.0.</a:t>
            </a:r>
            <a:endParaRPr lang="en-US" sz="1650" dirty="0"/>
          </a:p>
        </p:txBody>
      </p:sp>
      <p:sp>
        <p:nvSpPr>
          <p:cNvPr id="5" name="Shape 3"/>
          <p:cNvSpPr/>
          <p:nvPr/>
        </p:nvSpPr>
        <p:spPr>
          <a:xfrm>
            <a:off x="7178040" y="1188720"/>
            <a:ext cx="4462272" cy="2377440"/>
          </a:xfrm>
          <a:prstGeom prst="roundRect">
            <a:avLst>
              <a:gd name="adj" fmla="val 3077"/>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6" name="Text 4"/>
          <p:cNvSpPr/>
          <p:nvPr/>
        </p:nvSpPr>
        <p:spPr>
          <a:xfrm>
            <a:off x="7406640" y="1389888"/>
            <a:ext cx="4023360" cy="274320"/>
          </a:xfrm>
          <a:prstGeom prst="rect">
            <a:avLst/>
          </a:prstGeom>
          <a:noFill/>
          <a:ln/>
        </p:spPr>
        <p:txBody>
          <a:bodyPr wrap="square" lIns="0" tIns="0" rIns="0" bIns="0" rtlCol="0" anchor="ctr"/>
          <a:lstStyle/>
          <a:p>
            <a:pPr indent="0" marL="0">
              <a:buNone/>
            </a:pPr>
            <a:r>
              <a:rPr lang="en-US" sz="1100" spc="200" kern="0" dirty="0">
                <a:solidFill>
                  <a:srgbClr val="22D3EE"/>
                </a:solidFill>
                <a:latin typeface="Consolas" pitchFamily="34" charset="0"/>
                <a:ea typeface="Consolas" pitchFamily="34" charset="-122"/>
                <a:cs typeface="Consolas" pitchFamily="34" charset="-120"/>
              </a:rPr>
              <a:t>FULL DOCUMENTATION IN THE REPO</a:t>
            </a:r>
            <a:endParaRPr lang="en-US" sz="1100" dirty="0"/>
          </a:p>
        </p:txBody>
      </p:sp>
      <p:sp>
        <p:nvSpPr>
          <p:cNvPr id="7" name="Text 5"/>
          <p:cNvSpPr/>
          <p:nvPr/>
        </p:nvSpPr>
        <p:spPr>
          <a:xfrm>
            <a:off x="7406640" y="1783080"/>
            <a:ext cx="4114800" cy="1691640"/>
          </a:xfrm>
          <a:prstGeom prst="rect">
            <a:avLst/>
          </a:prstGeom>
          <a:noFill/>
          <a:ln/>
        </p:spPr>
        <p:txBody>
          <a:bodyPr wrap="square" lIns="0" tIns="0" rIns="0" bIns="0" rtlCol="0" anchor="ctr"/>
          <a:lstStyle/>
          <a:p>
            <a:pPr indent="0" marL="0">
              <a:lnSpc>
                <a:spcPct val="120000"/>
              </a:lnSpc>
              <a:buNone/>
            </a:pPr>
            <a:r>
              <a:rPr lang="en-US" sz="1250" dirty="0">
                <a:solidFill>
                  <a:srgbClr val="34D399"/>
                </a:solidFill>
                <a:latin typeface="Consolas" pitchFamily="34" charset="0"/>
                <a:ea typeface="Consolas" pitchFamily="34" charset="-122"/>
                <a:cs typeface="Consolas" pitchFamily="34" charset="-120"/>
              </a:rPr>
              <a:t>README.md</a:t>
            </a:r>
            <a:endParaRPr lang="en-US" sz="1250" dirty="0"/>
          </a:p>
          <a:p>
            <a:pPr indent="0" marL="0">
              <a:lnSpc>
                <a:spcPct val="120000"/>
              </a:lnSpc>
              <a:buNone/>
            </a:pPr>
            <a:r>
              <a:rPr lang="en-US" sz="1050" dirty="0">
                <a:solidFill>
                  <a:srgbClr val="8DA2BD"/>
                </a:solidFill>
                <a:latin typeface="Segoe UI" pitchFamily="34" charset="0"/>
                <a:ea typeface="Segoe UI" pitchFamily="34" charset="-122"/>
                <a:cs typeface="Segoe UI" pitchFamily="34" charset="-120"/>
              </a:rPr>
              <a:t>setup, architecture, compliance matrix, audit method</a:t>
            </a:r>
            <a:endParaRPr lang="en-US" sz="1250" dirty="0"/>
          </a:p>
          <a:p>
            <a:pPr indent="0" marL="0">
              <a:lnSpc>
                <a:spcPct val="120000"/>
              </a:lnSpc>
              <a:buNone/>
            </a:pPr>
            <a:r>
              <a:rPr lang="en-US" sz="1250" dirty="0">
                <a:solidFill>
                  <a:srgbClr val="34D399"/>
                </a:solidFill>
                <a:latin typeface="Consolas" pitchFamily="34" charset="0"/>
                <a:ea typeface="Consolas" pitchFamily="34" charset="-122"/>
                <a:cs typeface="Consolas" pitchFamily="34" charset="-120"/>
              </a:rPr>
              <a:t>AUDIT_REPORT.md</a:t>
            </a:r>
            <a:endParaRPr lang="en-US" sz="1250" dirty="0"/>
          </a:p>
          <a:p>
            <a:pPr indent="0" marL="0">
              <a:lnSpc>
                <a:spcPct val="120000"/>
              </a:lnSpc>
              <a:buNone/>
            </a:pPr>
            <a:r>
              <a:rPr lang="en-US" sz="1050" dirty="0">
                <a:solidFill>
                  <a:srgbClr val="8DA2BD"/>
                </a:solidFill>
                <a:latin typeface="Segoe UI" pitchFamily="34" charset="0"/>
                <a:ea typeface="Segoe UI" pitchFamily="34" charset="-122"/>
                <a:cs typeface="Segoe UI" pitchFamily="34" charset="-120"/>
              </a:rPr>
              <a:t>defect register, evidence ledger, release assessment</a:t>
            </a:r>
            <a:endParaRPr lang="en-US" sz="1250" dirty="0"/>
          </a:p>
          <a:p>
            <a:pPr indent="0" marL="0">
              <a:lnSpc>
                <a:spcPct val="120000"/>
              </a:lnSpc>
              <a:buNone/>
            </a:pPr>
            <a:r>
              <a:rPr lang="en-US" sz="1250" dirty="0">
                <a:solidFill>
                  <a:srgbClr val="34D399"/>
                </a:solidFill>
                <a:latin typeface="Consolas" pitchFamily="34" charset="0"/>
                <a:ea typeface="Consolas" pitchFamily="34" charset="-122"/>
                <a:cs typeface="Consolas" pitchFamily="34" charset="-120"/>
              </a:rPr>
              <a:t>docs/verification-matrix.md</a:t>
            </a:r>
            <a:endParaRPr lang="en-US" sz="1250" dirty="0"/>
          </a:p>
          <a:p>
            <a:pPr indent="0" marL="0">
              <a:lnSpc>
                <a:spcPct val="120000"/>
              </a:lnSpc>
              <a:buNone/>
            </a:pPr>
            <a:r>
              <a:rPr lang="en-US" sz="1050" dirty="0">
                <a:solidFill>
                  <a:srgbClr val="8DA2BD"/>
                </a:solidFill>
                <a:latin typeface="Segoe UI" pitchFamily="34" charset="0"/>
                <a:ea typeface="Segoe UI" pitchFamily="34" charset="-122"/>
                <a:cs typeface="Segoe UI" pitchFamily="34" charset="-120"/>
              </a:rPr>
              <a:t>requirement-to-test traceability, honest statuses</a:t>
            </a:r>
            <a:endParaRPr lang="en-US" sz="1250" dirty="0"/>
          </a:p>
        </p:txBody>
      </p:sp>
      <p:sp>
        <p:nvSpPr>
          <p:cNvPr id="8" name="Shape 6"/>
          <p:cNvSpPr/>
          <p:nvPr/>
        </p:nvSpPr>
        <p:spPr>
          <a:xfrm>
            <a:off x="7178040" y="3794760"/>
            <a:ext cx="4462272" cy="1005840"/>
          </a:xfrm>
          <a:prstGeom prst="roundRect">
            <a:avLst>
              <a:gd name="adj" fmla="val 7273"/>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7406640" y="3950208"/>
            <a:ext cx="4114800" cy="731520"/>
          </a:xfrm>
          <a:prstGeom prst="rect">
            <a:avLst/>
          </a:prstGeom>
          <a:noFill/>
          <a:ln/>
        </p:spPr>
        <p:txBody>
          <a:bodyPr wrap="square" lIns="0" tIns="0" rIns="0" bIns="0" rtlCol="0" anchor="ctr"/>
          <a:lstStyle/>
          <a:p>
            <a:pPr indent="0" marL="0">
              <a:lnSpc>
                <a:spcPct val="120000"/>
              </a:lnSpc>
              <a:buNone/>
            </a:pPr>
            <a:r>
              <a:rPr lang="en-US" sz="1250" dirty="0">
                <a:solidFill>
                  <a:srgbClr val="34D399"/>
                </a:solidFill>
                <a:latin typeface="Consolas" pitchFamily="34" charset="0"/>
                <a:ea typeface="Consolas" pitchFamily="34" charset="-122"/>
                <a:cs typeface="Consolas" pitchFamily="34" charset="-120"/>
              </a:rPr>
              <a:t>JUDGE_TESTING_GUIDE.md</a:t>
            </a:r>
            <a:endParaRPr lang="en-US" sz="1250" dirty="0"/>
          </a:p>
          <a:p>
            <a:pPr indent="0" marL="0">
              <a:lnSpc>
                <a:spcPct val="120000"/>
              </a:lnSpc>
              <a:buNone/>
            </a:pPr>
            <a:r>
              <a:rPr lang="en-US" sz="1050" dirty="0">
                <a:solidFill>
                  <a:srgbClr val="8DA2BD"/>
                </a:solidFill>
                <a:latin typeface="Segoe UI" pitchFamily="34" charset="0"/>
                <a:ea typeface="Segoe UI" pitchFamily="34" charset="-122"/>
                <a:cs typeface="Segoe UI" pitchFamily="34" charset="-120"/>
              </a:rPr>
              <a:t>acceptance checklist — verify every claim yourself</a:t>
            </a:r>
            <a:endParaRPr lang="en-US" sz="1250" dirty="0"/>
          </a:p>
        </p:txBody>
      </p:sp>
      <p:sp>
        <p:nvSpPr>
          <p:cNvPr id="10" name="Shape 8"/>
          <p:cNvSpPr/>
          <p:nvPr/>
        </p:nvSpPr>
        <p:spPr>
          <a:xfrm>
            <a:off x="548640" y="5029200"/>
            <a:ext cx="6309360" cy="1371600"/>
          </a:xfrm>
          <a:prstGeom prst="roundRect">
            <a:avLst>
              <a:gd name="adj" fmla="val 5333"/>
            </a:avLst>
          </a:prstGeom>
          <a:solidFill>
            <a:srgbClr val="0E1B33"/>
          </a:solidFill>
          <a:ln w="12700">
            <a:solidFill>
              <a:srgbClr val="22304E"/>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777240" y="5138928"/>
            <a:ext cx="5669280" cy="256032"/>
          </a:xfrm>
          <a:prstGeom prst="rect">
            <a:avLst/>
          </a:prstGeom>
          <a:noFill/>
          <a:ln/>
        </p:spPr>
        <p:txBody>
          <a:bodyPr wrap="square" lIns="0" tIns="0" rIns="0" bIns="0" rtlCol="0" anchor="ctr"/>
          <a:lstStyle/>
          <a:p>
            <a:pPr indent="0" marL="0">
              <a:buNone/>
            </a:pPr>
            <a:r>
              <a:rPr lang="en-US" sz="1050" spc="200" kern="0" dirty="0">
                <a:solidFill>
                  <a:srgbClr val="22D3EE"/>
                </a:solidFill>
                <a:latin typeface="Consolas" pitchFamily="34" charset="0"/>
                <a:ea typeface="Consolas" pitchFamily="34" charset="-122"/>
                <a:cs typeface="Consolas" pitchFamily="34" charset="-120"/>
              </a:rPr>
              <a:t>VERIFY EVERYTHING YOURSELF</a:t>
            </a:r>
            <a:endParaRPr lang="en-US" sz="1050" dirty="0"/>
          </a:p>
        </p:txBody>
      </p:sp>
      <p:sp>
        <p:nvSpPr>
          <p:cNvPr id="12" name="Text 10"/>
          <p:cNvSpPr/>
          <p:nvPr/>
        </p:nvSpPr>
        <p:spPr>
          <a:xfrm>
            <a:off x="777240" y="5413248"/>
            <a:ext cx="5852160" cy="914400"/>
          </a:xfrm>
          <a:prstGeom prst="rect">
            <a:avLst/>
          </a:prstGeom>
          <a:noFill/>
          <a:ln/>
        </p:spPr>
        <p:txBody>
          <a:bodyPr wrap="square" lIns="0" tIns="0" rIns="0" bIns="0" rtlCol="0" anchor="ctr"/>
          <a:lstStyle/>
          <a:p>
            <a:pPr indent="0" marL="0">
              <a:lnSpc>
                <a:spcPct val="120000"/>
              </a:lnSpc>
              <a:buNone/>
            </a:pPr>
            <a:r>
              <a:rPr lang="en-US" sz="1150" dirty="0">
                <a:solidFill>
                  <a:srgbClr val="34D399"/>
                </a:solidFill>
                <a:latin typeface="Consolas" pitchFamily="34" charset="0"/>
                <a:ea typeface="Consolas" pitchFamily="34" charset="-122"/>
                <a:cs typeface="Consolas" pitchFamily="34" charset="-120"/>
              </a:rPr>
              <a:t>$ node scripts/start_local.js</a:t>
            </a:r>
            <a:endParaRPr lang="en-US" sz="1150" dirty="0"/>
          </a:p>
          <a:p>
            <a:pPr indent="0" marL="0">
              <a:lnSpc>
                <a:spcPct val="120000"/>
              </a:lnSpc>
              <a:buNone/>
            </a:pPr>
            <a:r>
              <a:rPr lang="en-US" sz="1150" dirty="0">
                <a:solidFill>
                  <a:srgbClr val="34D399"/>
                </a:solidFill>
                <a:latin typeface="Consolas" pitchFamily="34" charset="0"/>
                <a:ea typeface="Consolas" pitchFamily="34" charset="-122"/>
                <a:cs typeface="Consolas" pitchFamily="34" charset="-120"/>
              </a:rPr>
              <a:t>$ node scripts/test_e2e_local.js</a:t>
            </a:r>
            <a:endParaRPr lang="en-US" sz="1150" dirty="0"/>
          </a:p>
          <a:p>
            <a:pPr indent="0" marL="0">
              <a:lnSpc>
                <a:spcPct val="120000"/>
              </a:lnSpc>
              <a:buNone/>
            </a:pPr>
            <a:r>
              <a:rPr lang="en-US" sz="1150" dirty="0">
                <a:solidFill>
                  <a:srgbClr val="34D399"/>
                </a:solidFill>
                <a:latin typeface="Consolas" pitchFamily="34" charset="0"/>
                <a:ea typeface="Consolas" pitchFamily="34" charset="-122"/>
                <a:cs typeface="Consolas" pitchFamily="34" charset="-120"/>
              </a:rPr>
              <a:t>$ node scripts/test_security_regression.js</a:t>
            </a:r>
            <a:endParaRPr lang="en-US" sz="1150" dirty="0"/>
          </a:p>
          <a:p>
            <a:pPr indent="0" marL="0">
              <a:lnSpc>
                <a:spcPct val="120000"/>
              </a:lnSpc>
              <a:buNone/>
            </a:pPr>
            <a:r>
              <a:rPr lang="en-US" sz="1150" dirty="0">
                <a:solidFill>
                  <a:srgbClr val="34D399"/>
                </a:solidFill>
                <a:latin typeface="Consolas" pitchFamily="34" charset="0"/>
                <a:ea typeface="Consolas" pitchFamily="34" charset="-122"/>
                <a:cs typeface="Consolas" pitchFamily="34" charset="-120"/>
              </a:rPr>
              <a:t>$ bash scripts/cli_interop_runner.sh</a:t>
            </a:r>
            <a:endParaRPr lang="en-US" sz="1150" dirty="0"/>
          </a:p>
        </p:txBody>
      </p:sp>
      <p:sp>
        <p:nvSpPr>
          <p:cNvPr id="13" name="Text 11"/>
          <p:cNvSpPr/>
          <p:nvPr/>
        </p:nvSpPr>
        <p:spPr>
          <a:xfrm>
            <a:off x="548640" y="6419088"/>
            <a:ext cx="11064240" cy="320040"/>
          </a:xfrm>
          <a:prstGeom prst="rect">
            <a:avLst/>
          </a:prstGeom>
          <a:noFill/>
          <a:ln/>
        </p:spPr>
        <p:txBody>
          <a:bodyPr wrap="square" lIns="0" tIns="0" rIns="0" bIns="0" rtlCol="0" anchor="ctr"/>
          <a:lstStyle/>
          <a:p>
            <a:pPr indent="0" marL="0">
              <a:buNone/>
            </a:pPr>
            <a:r>
              <a:rPr lang="en-US" sz="1200" dirty="0">
                <a:solidFill>
                  <a:srgbClr val="F1F5F9"/>
                </a:solidFill>
                <a:latin typeface="Consolas" pitchFamily="34" charset="0"/>
                <a:ea typeface="Consolas" pitchFamily="34" charset="-122"/>
                <a:cs typeface="Consolas" pitchFamily="34" charset="-120"/>
              </a:rPr>
              <a:t>MOSIP Decode 2026 · Problem Statement 02 · 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MOSIP Inji Conformance Laboratory</dc:title>
  <dc:subject>PptxGenJS Presentation</dc:subject>
  <dc:creator>MOSIP Decode 2026 Team</dc:creator>
  <cp:lastModifiedBy>MOSIP Decode 2026 Team</cp:lastModifiedBy>
  <cp:revision>1</cp:revision>
  <dcterms:created xsi:type="dcterms:W3CDTF">2026-10-25T20:48:59Z</dcterms:created>
  <dcterms:modified xsi:type="dcterms:W3CDTF">2026-10-25T20:48:59Z</dcterms:modified>
</cp:coreProperties>
</file>